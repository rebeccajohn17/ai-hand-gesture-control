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ebas Neue" charset="1" panose="00000500000000000000"/>
      <p:regular r:id="rId23"/>
    </p:embeddedFont>
    <p:embeddedFont>
      <p:font typeface="Bebas Neue Bold" charset="1" panose="020B0606020202050201"/>
      <p:regular r:id="rId25"/>
    </p:embeddedFont>
    <p:embeddedFont>
      <p:font typeface="Raleway Bold" charset="1" panose="00000000000000000000"/>
      <p:regular r:id="rId27"/>
    </p:embeddedFont>
    <p:embeddedFont>
      <p:font typeface="Raleway" charset="1" panose="00000000000000000000"/>
      <p:regular r:id="rId30"/>
    </p:embeddedFont>
    <p:embeddedFont>
      <p:font typeface="Raleway Medium" charset="1" panose="000000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notesSlides/notesSlide3.xml" Type="http://schemas.openxmlformats.org/officeDocument/2006/relationships/notesSlide"/><Relationship Id="rId27" Target="fonts/font27.fntdata" Type="http://schemas.openxmlformats.org/officeDocument/2006/relationships/font"/><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fonts/font34.fntdata" Type="http://schemas.openxmlformats.org/officeDocument/2006/relationships/font"/><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theme/theme1.xml" Type="http://schemas.openxmlformats.org/officeDocument/2006/relationships/theme"/><Relationship Id="rId40" Target="notesSlides/notesSlide1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14225" y="262875"/>
            <a:ext cx="18059550" cy="1914300"/>
          </a:xfrm>
          <a:prstGeom prst="rect">
            <a:avLst/>
          </a:prstGeom>
        </p:spPr>
        <p:txBody>
          <a:bodyPr anchor="t" rtlCol="false" tIns="0" lIns="0" bIns="0" rIns="0">
            <a:spAutoFit/>
          </a:bodyPr>
          <a:lstStyle/>
          <a:p>
            <a:pPr algn="ctr">
              <a:lnSpc>
                <a:spcPts val="17064"/>
              </a:lnSpc>
            </a:pPr>
            <a:r>
              <a:rPr lang="en-US" sz="15800">
                <a:solidFill>
                  <a:srgbClr val="5C64B8">
                    <a:alpha val="42745"/>
                  </a:srgbClr>
                </a:solidFill>
                <a:latin typeface="Bebas Neue"/>
                <a:ea typeface="Bebas Neue"/>
                <a:cs typeface="Bebas Neue"/>
                <a:sym typeface="Bebas Neue"/>
              </a:rPr>
              <a:t>ARTIFICIAL INTELLIGENCE (AI)</a:t>
            </a:r>
          </a:p>
        </p:txBody>
      </p:sp>
      <p:sp>
        <p:nvSpPr>
          <p:cNvPr name="TextBox 3" id="3"/>
          <p:cNvSpPr txBox="true"/>
          <p:nvPr/>
        </p:nvSpPr>
        <p:spPr>
          <a:xfrm rot="0">
            <a:off x="114225" y="5576331"/>
            <a:ext cx="18059550" cy="1914300"/>
          </a:xfrm>
          <a:prstGeom prst="rect">
            <a:avLst/>
          </a:prstGeom>
        </p:spPr>
        <p:txBody>
          <a:bodyPr anchor="t" rtlCol="false" tIns="0" lIns="0" bIns="0" rIns="0">
            <a:spAutoFit/>
          </a:bodyPr>
          <a:lstStyle/>
          <a:p>
            <a:pPr algn="ctr">
              <a:lnSpc>
                <a:spcPts val="17064"/>
              </a:lnSpc>
            </a:pPr>
            <a:r>
              <a:rPr lang="en-US" sz="15800">
                <a:solidFill>
                  <a:srgbClr val="5C64B8">
                    <a:alpha val="42745"/>
                  </a:srgbClr>
                </a:solidFill>
                <a:latin typeface="Bebas Neue"/>
                <a:ea typeface="Bebas Neue"/>
                <a:cs typeface="Bebas Neue"/>
                <a:sym typeface="Bebas Neue"/>
              </a:rPr>
              <a:t>ARTIFICIAL INTELLIGENCE (AI)</a:t>
            </a:r>
          </a:p>
        </p:txBody>
      </p:sp>
      <p:sp>
        <p:nvSpPr>
          <p:cNvPr name="TextBox 4" id="4"/>
          <p:cNvSpPr txBox="true"/>
          <p:nvPr/>
        </p:nvSpPr>
        <p:spPr>
          <a:xfrm rot="0">
            <a:off x="136775" y="8233059"/>
            <a:ext cx="18059550" cy="1914300"/>
          </a:xfrm>
          <a:prstGeom prst="rect">
            <a:avLst/>
          </a:prstGeom>
        </p:spPr>
        <p:txBody>
          <a:bodyPr anchor="t" rtlCol="false" tIns="0" lIns="0" bIns="0" rIns="0">
            <a:spAutoFit/>
          </a:bodyPr>
          <a:lstStyle/>
          <a:p>
            <a:pPr algn="ctr">
              <a:lnSpc>
                <a:spcPts val="17064"/>
              </a:lnSpc>
            </a:pPr>
            <a:r>
              <a:rPr lang="en-US" sz="15800">
                <a:solidFill>
                  <a:srgbClr val="5C64B8">
                    <a:alpha val="42745"/>
                  </a:srgbClr>
                </a:solidFill>
                <a:latin typeface="Bebas Neue"/>
                <a:ea typeface="Bebas Neue"/>
                <a:cs typeface="Bebas Neue"/>
                <a:sym typeface="Bebas Neue"/>
              </a:rPr>
              <a:t>ARTIFICIAL INTELLIGENCE (AI)</a:t>
            </a:r>
          </a:p>
        </p:txBody>
      </p:sp>
      <p:sp>
        <p:nvSpPr>
          <p:cNvPr name="TextBox 5" id="5"/>
          <p:cNvSpPr txBox="true"/>
          <p:nvPr/>
        </p:nvSpPr>
        <p:spPr>
          <a:xfrm rot="0">
            <a:off x="114225" y="2919603"/>
            <a:ext cx="18059550" cy="1914300"/>
          </a:xfrm>
          <a:prstGeom prst="rect">
            <a:avLst/>
          </a:prstGeom>
        </p:spPr>
        <p:txBody>
          <a:bodyPr anchor="t" rtlCol="false" tIns="0" lIns="0" bIns="0" rIns="0">
            <a:spAutoFit/>
          </a:bodyPr>
          <a:lstStyle/>
          <a:p>
            <a:pPr algn="ctr">
              <a:lnSpc>
                <a:spcPts val="17064"/>
              </a:lnSpc>
            </a:pPr>
            <a:r>
              <a:rPr lang="en-US" sz="15800">
                <a:solidFill>
                  <a:srgbClr val="5C64B8">
                    <a:alpha val="42745"/>
                  </a:srgbClr>
                </a:solidFill>
                <a:latin typeface="Bebas Neue"/>
                <a:ea typeface="Bebas Neue"/>
                <a:cs typeface="Bebas Neue"/>
                <a:sym typeface="Bebas Neue"/>
              </a:rPr>
              <a:t>ARTIFICIAL INTELLIGENCE (AI)</a:t>
            </a:r>
          </a:p>
        </p:txBody>
      </p:sp>
      <p:grpSp>
        <p:nvGrpSpPr>
          <p:cNvPr name="Group 6" id="6"/>
          <p:cNvGrpSpPr/>
          <p:nvPr/>
        </p:nvGrpSpPr>
        <p:grpSpPr>
          <a:xfrm rot="0">
            <a:off x="709364" y="485050"/>
            <a:ext cx="17001734" cy="9316900"/>
            <a:chOff x="0" y="0"/>
            <a:chExt cx="22668979" cy="12422534"/>
          </a:xfrm>
        </p:grpSpPr>
        <p:sp>
          <p:nvSpPr>
            <p:cNvPr name="Freeform 7" id="7"/>
            <p:cNvSpPr/>
            <p:nvPr/>
          </p:nvSpPr>
          <p:spPr>
            <a:xfrm flipH="false" flipV="false" rot="0">
              <a:off x="0" y="0"/>
              <a:ext cx="22669038" cy="12422571"/>
            </a:xfrm>
            <a:custGeom>
              <a:avLst/>
              <a:gdLst/>
              <a:ahLst/>
              <a:cxnLst/>
              <a:rect r="r" b="b" t="t" l="l"/>
              <a:pathLst>
                <a:path h="12422571" w="22669038">
                  <a:moveTo>
                    <a:pt x="0" y="0"/>
                  </a:moveTo>
                  <a:lnTo>
                    <a:pt x="22669038" y="0"/>
                  </a:lnTo>
                  <a:lnTo>
                    <a:pt x="22669038" y="12422571"/>
                  </a:lnTo>
                  <a:lnTo>
                    <a:pt x="0" y="12422571"/>
                  </a:lnTo>
                  <a:close/>
                </a:path>
              </a:pathLst>
            </a:custGeom>
            <a:solidFill>
              <a:srgbClr val="E7E7E7"/>
            </a:solidFill>
          </p:spPr>
        </p:sp>
      </p:grpSp>
      <p:sp>
        <p:nvSpPr>
          <p:cNvPr name="TextBox 8" id="8"/>
          <p:cNvSpPr txBox="true"/>
          <p:nvPr/>
        </p:nvSpPr>
        <p:spPr>
          <a:xfrm rot="0">
            <a:off x="7487438" y="727359"/>
            <a:ext cx="8641350" cy="7334250"/>
          </a:xfrm>
          <a:prstGeom prst="rect">
            <a:avLst/>
          </a:prstGeom>
        </p:spPr>
        <p:txBody>
          <a:bodyPr anchor="t" rtlCol="false" tIns="0" lIns="0" bIns="0" rIns="0">
            <a:spAutoFit/>
          </a:bodyPr>
          <a:lstStyle/>
          <a:p>
            <a:pPr algn="l">
              <a:lnSpc>
                <a:spcPts val="14400"/>
              </a:lnSpc>
            </a:pPr>
            <a:r>
              <a:rPr lang="en-US" sz="12000">
                <a:solidFill>
                  <a:srgbClr val="6E79E4"/>
                </a:solidFill>
                <a:latin typeface="Bebas Neue"/>
                <a:ea typeface="Bebas Neue"/>
                <a:cs typeface="Bebas Neue"/>
                <a:sym typeface="Bebas Neue"/>
              </a:rPr>
              <a:t>PROJECT ON HAND GESTURES USING AI MODULES IN PYTHON</a:t>
            </a:r>
          </a:p>
        </p:txBody>
      </p:sp>
      <p:sp>
        <p:nvSpPr>
          <p:cNvPr name="Freeform 9" id="9"/>
          <p:cNvSpPr/>
          <p:nvPr/>
        </p:nvSpPr>
        <p:spPr>
          <a:xfrm flipH="false" flipV="false" rot="0">
            <a:off x="-1434558" y="2835030"/>
            <a:ext cx="7385940" cy="7824400"/>
          </a:xfrm>
          <a:custGeom>
            <a:avLst/>
            <a:gdLst/>
            <a:ahLst/>
            <a:cxnLst/>
            <a:rect r="r" b="b" t="t" l="l"/>
            <a:pathLst>
              <a:path h="7824400" w="7385940">
                <a:moveTo>
                  <a:pt x="0" y="0"/>
                </a:moveTo>
                <a:lnTo>
                  <a:pt x="7385940" y="0"/>
                </a:lnTo>
                <a:lnTo>
                  <a:pt x="7385940" y="7824400"/>
                </a:lnTo>
                <a:lnTo>
                  <a:pt x="0" y="7824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3558050" y="699008"/>
            <a:ext cx="1826850" cy="741950"/>
          </a:xfrm>
          <a:custGeom>
            <a:avLst/>
            <a:gdLst/>
            <a:ahLst/>
            <a:cxnLst/>
            <a:rect r="r" b="b" t="t" l="l"/>
            <a:pathLst>
              <a:path h="741950" w="1826850">
                <a:moveTo>
                  <a:pt x="0" y="0"/>
                </a:moveTo>
                <a:lnTo>
                  <a:pt x="1826850" y="0"/>
                </a:lnTo>
                <a:lnTo>
                  <a:pt x="1826850" y="741950"/>
                </a:lnTo>
                <a:lnTo>
                  <a:pt x="0" y="7419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4172700" y="1646650"/>
            <a:ext cx="2540400" cy="2540400"/>
            <a:chOff x="0" y="0"/>
            <a:chExt cx="3387200" cy="3387200"/>
          </a:xfrm>
        </p:grpSpPr>
        <p:sp>
          <p:nvSpPr>
            <p:cNvPr name="Freeform 12" id="12"/>
            <p:cNvSpPr/>
            <p:nvPr/>
          </p:nvSpPr>
          <p:spPr>
            <a:xfrm flipH="false" flipV="false" rot="0">
              <a:off x="0" y="0"/>
              <a:ext cx="3387217" cy="3387217"/>
            </a:xfrm>
            <a:custGeom>
              <a:avLst/>
              <a:gdLst/>
              <a:ahLst/>
              <a:cxnLst/>
              <a:rect r="r" b="b" t="t" l="l"/>
              <a:pathLst>
                <a:path h="3387217" w="3387217">
                  <a:moveTo>
                    <a:pt x="0" y="1693545"/>
                  </a:moveTo>
                  <a:cubicBezTo>
                    <a:pt x="0" y="758190"/>
                    <a:pt x="758190" y="0"/>
                    <a:pt x="1693545" y="0"/>
                  </a:cubicBezTo>
                  <a:cubicBezTo>
                    <a:pt x="2628900" y="0"/>
                    <a:pt x="3387217" y="758190"/>
                    <a:pt x="3387217" y="1693545"/>
                  </a:cubicBezTo>
                  <a:cubicBezTo>
                    <a:pt x="3387217" y="2628900"/>
                    <a:pt x="2628900" y="3387217"/>
                    <a:pt x="1693545" y="3387217"/>
                  </a:cubicBezTo>
                  <a:cubicBezTo>
                    <a:pt x="758190" y="3387217"/>
                    <a:pt x="0" y="2628900"/>
                    <a:pt x="0" y="1693545"/>
                  </a:cubicBezTo>
                  <a:close/>
                </a:path>
              </a:pathLst>
            </a:custGeom>
            <a:solidFill>
              <a:srgbClr val="6E79E4">
                <a:alpha val="12549"/>
              </a:srgbClr>
            </a:solidFill>
          </p:spPr>
        </p:sp>
      </p:grpSp>
      <p:sp>
        <p:nvSpPr>
          <p:cNvPr name="Freeform 13" id="13"/>
          <p:cNvSpPr/>
          <p:nvPr/>
        </p:nvSpPr>
        <p:spPr>
          <a:xfrm flipH="false" flipV="false" rot="0">
            <a:off x="6183726" y="2104024"/>
            <a:ext cx="1075112" cy="273152"/>
          </a:xfrm>
          <a:custGeom>
            <a:avLst/>
            <a:gdLst/>
            <a:ahLst/>
            <a:cxnLst/>
            <a:rect r="r" b="b" t="t" l="l"/>
            <a:pathLst>
              <a:path h="273152" w="1075112">
                <a:moveTo>
                  <a:pt x="0" y="0"/>
                </a:moveTo>
                <a:lnTo>
                  <a:pt x="1075112" y="0"/>
                </a:lnTo>
                <a:lnTo>
                  <a:pt x="1075112" y="273152"/>
                </a:lnTo>
                <a:lnTo>
                  <a:pt x="0" y="273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14" id="14"/>
          <p:cNvSpPr/>
          <p:nvPr/>
        </p:nvSpPr>
        <p:spPr>
          <a:xfrm flipH="true">
            <a:off x="6798563" y="7745670"/>
            <a:ext cx="10019100" cy="60900"/>
          </a:xfrm>
          <a:prstGeom prst="line">
            <a:avLst/>
          </a:prstGeom>
          <a:ln cap="rnd" w="19050">
            <a:solidFill>
              <a:srgbClr val="191919"/>
            </a:solidFill>
            <a:prstDash val="solid"/>
            <a:headEnd type="none" len="sm" w="sm"/>
            <a:tailEnd type="none" len="sm" w="sm"/>
          </a:ln>
        </p:spPr>
      </p:sp>
      <p:sp>
        <p:nvSpPr>
          <p:cNvPr name="TextBox 15" id="15"/>
          <p:cNvSpPr txBox="true"/>
          <p:nvPr/>
        </p:nvSpPr>
        <p:spPr>
          <a:xfrm rot="0">
            <a:off x="11289058" y="8118759"/>
            <a:ext cx="2268992" cy="819928"/>
          </a:xfrm>
          <a:prstGeom prst="rect">
            <a:avLst/>
          </a:prstGeom>
        </p:spPr>
        <p:txBody>
          <a:bodyPr anchor="t" rtlCol="false" tIns="0" lIns="0" bIns="0" rIns="0">
            <a:spAutoFit/>
          </a:bodyPr>
          <a:lstStyle/>
          <a:p>
            <a:pPr algn="ctr">
              <a:lnSpc>
                <a:spcPts val="6228"/>
              </a:lnSpc>
              <a:spcBef>
                <a:spcPct val="0"/>
              </a:spcBef>
            </a:pPr>
            <a:r>
              <a:rPr lang="en-US" sz="5766">
                <a:solidFill>
                  <a:srgbClr val="000000"/>
                </a:solidFill>
                <a:latin typeface="Bebas Neue"/>
                <a:ea typeface="Bebas Neue"/>
                <a:cs typeface="Bebas Neue"/>
                <a:sym typeface="Bebas Neue"/>
              </a:rPr>
              <a:t>rebecca j</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6E79E4"/>
        </a:solidFill>
      </p:bgPr>
    </p:bg>
    <p:spTree>
      <p:nvGrpSpPr>
        <p:cNvPr id="1" name=""/>
        <p:cNvGrpSpPr/>
        <p:nvPr/>
      </p:nvGrpSpPr>
      <p:grpSpPr>
        <a:xfrm>
          <a:off x="0" y="0"/>
          <a:ext cx="0" cy="0"/>
          <a:chOff x="0" y="0"/>
          <a:chExt cx="0" cy="0"/>
        </a:xfrm>
      </p:grpSpPr>
      <p:sp>
        <p:nvSpPr>
          <p:cNvPr name="TextBox 2" id="2"/>
          <p:cNvSpPr txBox="true"/>
          <p:nvPr/>
        </p:nvSpPr>
        <p:spPr>
          <a:xfrm rot="5400000">
            <a:off x="-1148450" y="7556650"/>
            <a:ext cx="3343950" cy="1932900"/>
          </a:xfrm>
          <a:prstGeom prst="rect">
            <a:avLst/>
          </a:prstGeom>
        </p:spPr>
        <p:txBody>
          <a:bodyPr anchor="t" rtlCol="false" tIns="0" lIns="0" bIns="0" rIns="0">
            <a:spAutoFit/>
          </a:bodyPr>
          <a:lstStyle/>
          <a:p>
            <a:pPr algn="l">
              <a:lnSpc>
                <a:spcPts val="17064"/>
              </a:lnSpc>
            </a:pPr>
            <a:r>
              <a:rPr lang="en-US" sz="15800">
                <a:solidFill>
                  <a:srgbClr val="FFFFFF"/>
                </a:solidFill>
                <a:latin typeface="Bebas Neue"/>
                <a:ea typeface="Bebas Neue"/>
                <a:cs typeface="Bebas Neue"/>
                <a:sym typeface="Bebas Neue"/>
              </a:rPr>
              <a:t>/(AI)</a:t>
            </a:r>
          </a:p>
        </p:txBody>
      </p:sp>
      <p:grpSp>
        <p:nvGrpSpPr>
          <p:cNvPr name="Group 3" id="3"/>
          <p:cNvGrpSpPr/>
          <p:nvPr/>
        </p:nvGrpSpPr>
        <p:grpSpPr>
          <a:xfrm rot="0">
            <a:off x="2882400" y="1039200"/>
            <a:ext cx="12523200" cy="8208600"/>
            <a:chOff x="0" y="0"/>
            <a:chExt cx="16697600" cy="10944800"/>
          </a:xfrm>
        </p:grpSpPr>
        <p:sp>
          <p:nvSpPr>
            <p:cNvPr name="Freeform 4" id="4"/>
            <p:cNvSpPr/>
            <p:nvPr/>
          </p:nvSpPr>
          <p:spPr>
            <a:xfrm flipH="false" flipV="false" rot="0">
              <a:off x="0" y="0"/>
              <a:ext cx="16697579" cy="10944860"/>
            </a:xfrm>
            <a:custGeom>
              <a:avLst/>
              <a:gdLst/>
              <a:ahLst/>
              <a:cxnLst/>
              <a:rect r="r" b="b" t="t" l="l"/>
              <a:pathLst>
                <a:path h="10944860" w="16697579">
                  <a:moveTo>
                    <a:pt x="0" y="0"/>
                  </a:moveTo>
                  <a:lnTo>
                    <a:pt x="16697579" y="0"/>
                  </a:lnTo>
                  <a:lnTo>
                    <a:pt x="16697579" y="10944860"/>
                  </a:lnTo>
                  <a:lnTo>
                    <a:pt x="0" y="10944860"/>
                  </a:lnTo>
                  <a:close/>
                </a:path>
              </a:pathLst>
            </a:custGeom>
            <a:solidFill>
              <a:srgbClr val="191919"/>
            </a:solidFill>
          </p:spPr>
        </p:sp>
      </p:grpSp>
      <p:grpSp>
        <p:nvGrpSpPr>
          <p:cNvPr name="Group 5" id="5"/>
          <p:cNvGrpSpPr/>
          <p:nvPr/>
        </p:nvGrpSpPr>
        <p:grpSpPr>
          <a:xfrm rot="0">
            <a:off x="3582700" y="1703100"/>
            <a:ext cx="11160000" cy="6880800"/>
            <a:chOff x="0" y="0"/>
            <a:chExt cx="14880000" cy="9174400"/>
          </a:xfrm>
        </p:grpSpPr>
        <p:sp>
          <p:nvSpPr>
            <p:cNvPr name="Freeform 6" id="6"/>
            <p:cNvSpPr/>
            <p:nvPr/>
          </p:nvSpPr>
          <p:spPr>
            <a:xfrm flipH="false" flipV="false" rot="0">
              <a:off x="0" y="0"/>
              <a:ext cx="14879955" cy="9174353"/>
            </a:xfrm>
            <a:custGeom>
              <a:avLst/>
              <a:gdLst/>
              <a:ahLst/>
              <a:cxnLst/>
              <a:rect r="r" b="b" t="t" l="l"/>
              <a:pathLst>
                <a:path h="9174353" w="14879955">
                  <a:moveTo>
                    <a:pt x="0" y="0"/>
                  </a:moveTo>
                  <a:lnTo>
                    <a:pt x="14879955" y="0"/>
                  </a:lnTo>
                  <a:lnTo>
                    <a:pt x="14879955" y="9174353"/>
                  </a:lnTo>
                  <a:lnTo>
                    <a:pt x="0" y="9174353"/>
                  </a:lnTo>
                  <a:close/>
                </a:path>
              </a:pathLst>
            </a:custGeom>
            <a:solidFill>
              <a:srgbClr val="E7E7E7"/>
            </a:solidFill>
          </p:spPr>
        </p:sp>
      </p:grpSp>
      <p:sp>
        <p:nvSpPr>
          <p:cNvPr name="TextBox 7" id="7"/>
          <p:cNvSpPr txBox="true"/>
          <p:nvPr/>
        </p:nvSpPr>
        <p:spPr>
          <a:xfrm rot="0">
            <a:off x="4303525" y="4282664"/>
            <a:ext cx="9706950" cy="1863090"/>
          </a:xfrm>
          <a:prstGeom prst="rect">
            <a:avLst/>
          </a:prstGeom>
        </p:spPr>
        <p:txBody>
          <a:bodyPr anchor="t" rtlCol="false" tIns="0" lIns="0" bIns="0" rIns="0">
            <a:spAutoFit/>
          </a:bodyPr>
          <a:lstStyle/>
          <a:p>
            <a:pPr algn="ctr">
              <a:lnSpc>
                <a:spcPts val="14400"/>
              </a:lnSpc>
            </a:pPr>
            <a:r>
              <a:rPr lang="en-US" b="true" sz="12000">
                <a:solidFill>
                  <a:srgbClr val="191919"/>
                </a:solidFill>
                <a:latin typeface="Bebas Neue Bold"/>
                <a:ea typeface="Bebas Neue Bold"/>
                <a:cs typeface="Bebas Neue Bold"/>
                <a:sym typeface="Bebas Neue Bold"/>
              </a:rPr>
              <a:t>INTRODUCTION</a:t>
            </a:r>
          </a:p>
        </p:txBody>
      </p:sp>
      <p:sp>
        <p:nvSpPr>
          <p:cNvPr name="TextBox 8" id="8"/>
          <p:cNvSpPr txBox="true"/>
          <p:nvPr/>
        </p:nvSpPr>
        <p:spPr>
          <a:xfrm rot="0">
            <a:off x="7369309" y="2599064"/>
            <a:ext cx="3582750" cy="1863090"/>
          </a:xfrm>
          <a:prstGeom prst="rect">
            <a:avLst/>
          </a:prstGeom>
        </p:spPr>
        <p:txBody>
          <a:bodyPr anchor="t" rtlCol="false" tIns="0" lIns="0" bIns="0" rIns="0">
            <a:spAutoFit/>
          </a:bodyPr>
          <a:lstStyle/>
          <a:p>
            <a:pPr algn="ctr">
              <a:lnSpc>
                <a:spcPts val="14400"/>
              </a:lnSpc>
            </a:pPr>
            <a:r>
              <a:rPr lang="en-US" b="true" sz="12000">
                <a:solidFill>
                  <a:srgbClr val="191919"/>
                </a:solidFill>
                <a:latin typeface="Bebas Neue Bold"/>
                <a:ea typeface="Bebas Neue Bold"/>
                <a:cs typeface="Bebas Neue Bold"/>
                <a:sym typeface="Bebas Neue Bold"/>
              </a:rPr>
              <a:t>01.</a:t>
            </a:r>
          </a:p>
        </p:txBody>
      </p:sp>
      <p:grpSp>
        <p:nvGrpSpPr>
          <p:cNvPr name="Group 9" id="9"/>
          <p:cNvGrpSpPr/>
          <p:nvPr/>
        </p:nvGrpSpPr>
        <p:grpSpPr>
          <a:xfrm rot="0">
            <a:off x="4390800" y="746200"/>
            <a:ext cx="1996800" cy="1996800"/>
            <a:chOff x="0" y="0"/>
            <a:chExt cx="2662400" cy="2662400"/>
          </a:xfrm>
        </p:grpSpPr>
        <p:sp>
          <p:nvSpPr>
            <p:cNvPr name="Freeform 10" id="10"/>
            <p:cNvSpPr/>
            <p:nvPr/>
          </p:nvSpPr>
          <p:spPr>
            <a:xfrm flipH="false" flipV="false" rot="0">
              <a:off x="0" y="0"/>
              <a:ext cx="2662428" cy="2662428"/>
            </a:xfrm>
            <a:custGeom>
              <a:avLst/>
              <a:gdLst/>
              <a:ahLst/>
              <a:cxnLst/>
              <a:rect r="r" b="b" t="t" l="l"/>
              <a:pathLst>
                <a:path h="2662428" w="2662428">
                  <a:moveTo>
                    <a:pt x="0" y="1331214"/>
                  </a:moveTo>
                  <a:cubicBezTo>
                    <a:pt x="0" y="596011"/>
                    <a:pt x="596011" y="0"/>
                    <a:pt x="1331214" y="0"/>
                  </a:cubicBezTo>
                  <a:cubicBezTo>
                    <a:pt x="2066417" y="0"/>
                    <a:pt x="2662428" y="596011"/>
                    <a:pt x="2662428" y="1331214"/>
                  </a:cubicBezTo>
                  <a:cubicBezTo>
                    <a:pt x="2662428" y="2066417"/>
                    <a:pt x="2066417" y="2662428"/>
                    <a:pt x="1331214" y="2662428"/>
                  </a:cubicBezTo>
                  <a:cubicBezTo>
                    <a:pt x="596011" y="2662428"/>
                    <a:pt x="0" y="2066417"/>
                    <a:pt x="0" y="1331214"/>
                  </a:cubicBezTo>
                  <a:close/>
                </a:path>
              </a:pathLst>
            </a:custGeom>
            <a:solidFill>
              <a:srgbClr val="000000">
                <a:alpha val="14510"/>
              </a:srgbClr>
            </a:solidFill>
          </p:spPr>
        </p:sp>
      </p:grpSp>
      <p:sp>
        <p:nvSpPr>
          <p:cNvPr name="Freeform 11" id="11"/>
          <p:cNvSpPr/>
          <p:nvPr/>
        </p:nvSpPr>
        <p:spPr>
          <a:xfrm flipH="false" flipV="false" rot="0">
            <a:off x="5421726" y="2469824"/>
            <a:ext cx="1075112" cy="273152"/>
          </a:xfrm>
          <a:custGeom>
            <a:avLst/>
            <a:gdLst/>
            <a:ahLst/>
            <a:cxnLst/>
            <a:rect r="r" b="b" t="t" l="l"/>
            <a:pathLst>
              <a:path h="273152" w="1075112">
                <a:moveTo>
                  <a:pt x="0" y="0"/>
                </a:moveTo>
                <a:lnTo>
                  <a:pt x="1075112" y="0"/>
                </a:lnTo>
                <a:lnTo>
                  <a:pt x="1075112" y="273152"/>
                </a:lnTo>
                <a:lnTo>
                  <a:pt x="0" y="2731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5762400" y="9029708"/>
            <a:ext cx="6795700" cy="374550"/>
          </a:xfrm>
          <a:custGeom>
            <a:avLst/>
            <a:gdLst/>
            <a:ahLst/>
            <a:cxnLst/>
            <a:rect r="r" b="b" t="t" l="l"/>
            <a:pathLst>
              <a:path h="374550" w="6795700">
                <a:moveTo>
                  <a:pt x="0" y="0"/>
                </a:moveTo>
                <a:lnTo>
                  <a:pt x="6795700" y="0"/>
                </a:lnTo>
                <a:lnTo>
                  <a:pt x="6795700" y="374550"/>
                </a:lnTo>
                <a:lnTo>
                  <a:pt x="0" y="3745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3" id="13"/>
          <p:cNvSpPr/>
          <p:nvPr/>
        </p:nvSpPr>
        <p:spPr>
          <a:xfrm rot="10779377">
            <a:off x="4371624" y="7537593"/>
            <a:ext cx="13952951" cy="0"/>
          </a:xfrm>
          <a:prstGeom prst="line">
            <a:avLst/>
          </a:prstGeom>
          <a:ln cap="rnd" w="19050">
            <a:solidFill>
              <a:srgbClr val="191919"/>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14225" y="5576331"/>
            <a:ext cx="18059550" cy="1914300"/>
          </a:xfrm>
          <a:prstGeom prst="rect">
            <a:avLst/>
          </a:prstGeom>
        </p:spPr>
        <p:txBody>
          <a:bodyPr anchor="t" rtlCol="false" tIns="0" lIns="0" bIns="0" rIns="0">
            <a:spAutoFit/>
          </a:bodyPr>
          <a:lstStyle/>
          <a:p>
            <a:pPr algn="ctr">
              <a:lnSpc>
                <a:spcPts val="17064"/>
              </a:lnSpc>
            </a:pPr>
            <a:r>
              <a:rPr lang="en-US" sz="15800">
                <a:solidFill>
                  <a:srgbClr val="5C64B8"/>
                </a:solidFill>
                <a:latin typeface="Bebas Neue"/>
                <a:ea typeface="Bebas Neue"/>
                <a:cs typeface="Bebas Neue"/>
                <a:sym typeface="Bebas Neue"/>
              </a:rPr>
              <a:t>ARTIFICIAL INTELLIGENCE (AI)</a:t>
            </a:r>
          </a:p>
        </p:txBody>
      </p:sp>
      <p:sp>
        <p:nvSpPr>
          <p:cNvPr name="TextBox 3" id="3"/>
          <p:cNvSpPr txBox="true"/>
          <p:nvPr/>
        </p:nvSpPr>
        <p:spPr>
          <a:xfrm rot="0">
            <a:off x="114225" y="2919603"/>
            <a:ext cx="18059550" cy="1914300"/>
          </a:xfrm>
          <a:prstGeom prst="rect">
            <a:avLst/>
          </a:prstGeom>
        </p:spPr>
        <p:txBody>
          <a:bodyPr anchor="t" rtlCol="false" tIns="0" lIns="0" bIns="0" rIns="0">
            <a:spAutoFit/>
          </a:bodyPr>
          <a:lstStyle/>
          <a:p>
            <a:pPr algn="ctr">
              <a:lnSpc>
                <a:spcPts val="17064"/>
              </a:lnSpc>
            </a:pPr>
            <a:r>
              <a:rPr lang="en-US" sz="15800">
                <a:solidFill>
                  <a:srgbClr val="5C64B8"/>
                </a:solidFill>
                <a:latin typeface="Bebas Neue"/>
                <a:ea typeface="Bebas Neue"/>
                <a:cs typeface="Bebas Neue"/>
                <a:sym typeface="Bebas Neue"/>
              </a:rPr>
              <a:t>ARTIFICIAL INTELLIGENCE (AI)</a:t>
            </a:r>
          </a:p>
        </p:txBody>
      </p:sp>
      <p:grpSp>
        <p:nvGrpSpPr>
          <p:cNvPr name="Group 4" id="4"/>
          <p:cNvGrpSpPr/>
          <p:nvPr/>
        </p:nvGrpSpPr>
        <p:grpSpPr>
          <a:xfrm rot="0">
            <a:off x="468027" y="380544"/>
            <a:ext cx="17254438" cy="9486800"/>
            <a:chOff x="0" y="0"/>
            <a:chExt cx="23005917" cy="12649067"/>
          </a:xfrm>
        </p:grpSpPr>
        <p:sp>
          <p:nvSpPr>
            <p:cNvPr name="Freeform 5" id="5"/>
            <p:cNvSpPr/>
            <p:nvPr/>
          </p:nvSpPr>
          <p:spPr>
            <a:xfrm flipH="false" flipV="false" rot="0">
              <a:off x="0" y="0"/>
              <a:ext cx="23005940" cy="12649103"/>
            </a:xfrm>
            <a:custGeom>
              <a:avLst/>
              <a:gdLst/>
              <a:ahLst/>
              <a:cxnLst/>
              <a:rect r="r" b="b" t="t" l="l"/>
              <a:pathLst>
                <a:path h="12649103" w="23005940">
                  <a:moveTo>
                    <a:pt x="0" y="0"/>
                  </a:moveTo>
                  <a:lnTo>
                    <a:pt x="23005940" y="0"/>
                  </a:lnTo>
                  <a:lnTo>
                    <a:pt x="23005940" y="12649103"/>
                  </a:lnTo>
                  <a:lnTo>
                    <a:pt x="0" y="12649103"/>
                  </a:lnTo>
                  <a:close/>
                </a:path>
              </a:pathLst>
            </a:custGeom>
            <a:solidFill>
              <a:srgbClr val="E7E7E7"/>
            </a:solidFill>
          </p:spPr>
        </p:sp>
      </p:grpSp>
      <p:sp>
        <p:nvSpPr>
          <p:cNvPr name="Freeform 6" id="6"/>
          <p:cNvSpPr/>
          <p:nvPr/>
        </p:nvSpPr>
        <p:spPr>
          <a:xfrm flipH="false" flipV="false" rot="0">
            <a:off x="-738554" y="7582042"/>
            <a:ext cx="4319060" cy="1097256"/>
          </a:xfrm>
          <a:custGeom>
            <a:avLst/>
            <a:gdLst/>
            <a:ahLst/>
            <a:cxnLst/>
            <a:rect r="r" b="b" t="t" l="l"/>
            <a:pathLst>
              <a:path h="1097256" w="4319060">
                <a:moveTo>
                  <a:pt x="0" y="0"/>
                </a:moveTo>
                <a:lnTo>
                  <a:pt x="4319060" y="0"/>
                </a:lnTo>
                <a:lnTo>
                  <a:pt x="4319060" y="1097256"/>
                </a:lnTo>
                <a:lnTo>
                  <a:pt x="0" y="1097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5457600" y="746200"/>
            <a:ext cx="1996800" cy="1996800"/>
            <a:chOff x="0" y="0"/>
            <a:chExt cx="2662400" cy="2662400"/>
          </a:xfrm>
        </p:grpSpPr>
        <p:sp>
          <p:nvSpPr>
            <p:cNvPr name="Freeform 8" id="8"/>
            <p:cNvSpPr/>
            <p:nvPr/>
          </p:nvSpPr>
          <p:spPr>
            <a:xfrm flipH="false" flipV="false" rot="0">
              <a:off x="0" y="0"/>
              <a:ext cx="2662428" cy="2662428"/>
            </a:xfrm>
            <a:custGeom>
              <a:avLst/>
              <a:gdLst/>
              <a:ahLst/>
              <a:cxnLst/>
              <a:rect r="r" b="b" t="t" l="l"/>
              <a:pathLst>
                <a:path h="2662428" w="2662428">
                  <a:moveTo>
                    <a:pt x="0" y="1331214"/>
                  </a:moveTo>
                  <a:cubicBezTo>
                    <a:pt x="0" y="596011"/>
                    <a:pt x="596011" y="0"/>
                    <a:pt x="1331214" y="0"/>
                  </a:cubicBezTo>
                  <a:cubicBezTo>
                    <a:pt x="2066417" y="0"/>
                    <a:pt x="2662428" y="596011"/>
                    <a:pt x="2662428" y="1331214"/>
                  </a:cubicBezTo>
                  <a:cubicBezTo>
                    <a:pt x="2662428" y="2066417"/>
                    <a:pt x="2066417" y="2662428"/>
                    <a:pt x="1331214" y="2662428"/>
                  </a:cubicBezTo>
                  <a:cubicBezTo>
                    <a:pt x="596011" y="2662428"/>
                    <a:pt x="0" y="2066417"/>
                    <a:pt x="0" y="1331214"/>
                  </a:cubicBezTo>
                  <a:close/>
                </a:path>
              </a:pathLst>
            </a:custGeom>
            <a:solidFill>
              <a:srgbClr val="718AC6">
                <a:alpha val="4314"/>
              </a:srgbClr>
            </a:solidFill>
          </p:spPr>
        </p:sp>
      </p:grpSp>
      <p:sp>
        <p:nvSpPr>
          <p:cNvPr name="Freeform 9" id="9"/>
          <p:cNvSpPr/>
          <p:nvPr/>
        </p:nvSpPr>
        <p:spPr>
          <a:xfrm flipH="false" flipV="false" rot="0">
            <a:off x="0" y="-250"/>
            <a:ext cx="18288000" cy="10287250"/>
          </a:xfrm>
          <a:custGeom>
            <a:avLst/>
            <a:gdLst/>
            <a:ahLst/>
            <a:cxnLst/>
            <a:rect r="r" b="b" t="t" l="l"/>
            <a:pathLst>
              <a:path h="10287250" w="18288000">
                <a:moveTo>
                  <a:pt x="0" y="0"/>
                </a:moveTo>
                <a:lnTo>
                  <a:pt x="18288000" y="0"/>
                </a:lnTo>
                <a:lnTo>
                  <a:pt x="18288000" y="10287250"/>
                </a:lnTo>
                <a:lnTo>
                  <a:pt x="0" y="10287250"/>
                </a:lnTo>
                <a:lnTo>
                  <a:pt x="0" y="0"/>
                </a:lnTo>
                <a:close/>
              </a:path>
            </a:pathLst>
          </a:custGeom>
          <a:blipFill>
            <a:blip r:embed="rId5">
              <a:alphaModFix amt="5000"/>
            </a:blip>
            <a:stretch>
              <a:fillRect l="0" t="-24058" r="-16424" b="-13585"/>
            </a:stretch>
          </a:blipFill>
        </p:spPr>
      </p:sp>
      <p:sp>
        <p:nvSpPr>
          <p:cNvPr name="TextBox 10" id="10"/>
          <p:cNvSpPr txBox="true"/>
          <p:nvPr/>
        </p:nvSpPr>
        <p:spPr>
          <a:xfrm rot="0">
            <a:off x="739476" y="718581"/>
            <a:ext cx="16711539" cy="9372600"/>
          </a:xfrm>
          <a:prstGeom prst="rect">
            <a:avLst/>
          </a:prstGeom>
        </p:spPr>
        <p:txBody>
          <a:bodyPr anchor="t" rtlCol="false" tIns="0" lIns="0" bIns="0" rIns="0">
            <a:spAutoFit/>
          </a:bodyPr>
          <a:lstStyle/>
          <a:p>
            <a:pPr algn="l" marL="647698" indent="-323849" lvl="1">
              <a:lnSpc>
                <a:spcPts val="3599"/>
              </a:lnSpc>
              <a:buFont typeface="Arial"/>
              <a:buChar char="•"/>
            </a:pPr>
            <a:r>
              <a:rPr lang="en-US" b="true" sz="2999">
                <a:solidFill>
                  <a:srgbClr val="191919"/>
                </a:solidFill>
                <a:latin typeface="Raleway Bold"/>
                <a:ea typeface="Raleway Bold"/>
                <a:cs typeface="Raleway Bold"/>
                <a:sym typeface="Raleway Bold"/>
              </a:rPr>
              <a:t>In t</a:t>
            </a:r>
            <a:r>
              <a:rPr lang="en-US" b="true" sz="2999">
                <a:solidFill>
                  <a:srgbClr val="191919"/>
                </a:solidFill>
                <a:latin typeface="Raleway Bold"/>
                <a:ea typeface="Raleway Bold"/>
                <a:cs typeface="Raleway Bold"/>
                <a:sym typeface="Raleway Bold"/>
              </a:rPr>
              <a:t>oday’s digital era, Artificial Intelligence (AI) and Computer Vision are transforming how humans interact with machines. Among the most fascinating developments in this space is gesture recognition, where computer systems understand and respond to human hand movements in real time.</a:t>
            </a:r>
          </a:p>
          <a:p>
            <a:pPr algn="l">
              <a:lnSpc>
                <a:spcPts val="3599"/>
              </a:lnSpc>
            </a:pPr>
          </a:p>
          <a:p>
            <a:pPr algn="l" marL="647698" indent="-323849" lvl="1">
              <a:lnSpc>
                <a:spcPts val="3599"/>
              </a:lnSpc>
              <a:buFont typeface="Arial"/>
              <a:buChar char="•"/>
            </a:pPr>
            <a:r>
              <a:rPr lang="en-US" b="true" sz="2999">
                <a:solidFill>
                  <a:srgbClr val="191919"/>
                </a:solidFill>
                <a:latin typeface="Raleway Bold"/>
                <a:ea typeface="Raleway Bold"/>
                <a:cs typeface="Raleway Bold"/>
                <a:sym typeface="Raleway Bold"/>
              </a:rPr>
              <a:t>Traditional presentation tools—such as keyboards, remotes, or laser pointers—require direct contact and can restrict the speaker’s natural movement, causing interruptions during lectures, meetings, or seminars. Moreover, these tools are not hygienic in multi-user environments and often require setup or batteries.</a:t>
            </a:r>
          </a:p>
          <a:p>
            <a:pPr algn="l">
              <a:lnSpc>
                <a:spcPts val="3599"/>
              </a:lnSpc>
            </a:pPr>
          </a:p>
          <a:p>
            <a:pPr algn="l" marL="647698" indent="-323849" lvl="1">
              <a:lnSpc>
                <a:spcPts val="3599"/>
              </a:lnSpc>
              <a:buFont typeface="Arial"/>
              <a:buChar char="•"/>
            </a:pPr>
            <a:r>
              <a:rPr lang="en-US" b="true" sz="2999">
                <a:solidFill>
                  <a:srgbClr val="191919"/>
                </a:solidFill>
                <a:latin typeface="Raleway Bold"/>
                <a:ea typeface="Raleway Bold"/>
                <a:cs typeface="Raleway Bold"/>
                <a:sym typeface="Raleway Bold"/>
              </a:rPr>
              <a:t>To overcome these limitations, the AI-Based Hand-Gesture Controlled Presentation System aims to provide a contactless, intuitive, and intelligent interface that allows a user to control presentation slides using hand gestures captured via webcam. The system leverages the OpenCV and cv zone. Hand Tracking Module libraries in Python to detect gestures and map them to presentation controls such as next slide, previous slide, pointer mode, drawing, and erasing.</a:t>
            </a:r>
          </a:p>
          <a:p>
            <a:pPr algn="l">
              <a:lnSpc>
                <a:spcPts val="3599"/>
              </a:lnSpc>
            </a:pPr>
          </a:p>
          <a:p>
            <a:pPr algn="l" marL="647698" indent="-323849" lvl="1">
              <a:lnSpc>
                <a:spcPts val="3599"/>
              </a:lnSpc>
              <a:buFont typeface="Arial"/>
              <a:buChar char="•"/>
            </a:pPr>
            <a:r>
              <a:rPr lang="en-US" b="true" sz="2999">
                <a:solidFill>
                  <a:srgbClr val="191919"/>
                </a:solidFill>
                <a:latin typeface="Raleway Bold"/>
                <a:ea typeface="Raleway Bold"/>
                <a:cs typeface="Raleway Bold"/>
                <a:sym typeface="Raleway Bold"/>
              </a:rPr>
              <a:t>This project not only enhances user convenience but also highlights how computer vision and AI-based tracking can be integrated into real-world applications to promote natural, human-like interaction with technology.</a:t>
            </a:r>
          </a:p>
          <a:p>
            <a:pPr algn="ctr">
              <a:lnSpc>
                <a:spcPts val="33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E79E4"/>
        </a:solidFill>
      </p:bgPr>
    </p:bg>
    <p:spTree>
      <p:nvGrpSpPr>
        <p:cNvPr id="1" name=""/>
        <p:cNvGrpSpPr/>
        <p:nvPr/>
      </p:nvGrpSpPr>
      <p:grpSpPr>
        <a:xfrm>
          <a:off x="0" y="0"/>
          <a:ext cx="0" cy="0"/>
          <a:chOff x="0" y="0"/>
          <a:chExt cx="0" cy="0"/>
        </a:xfrm>
      </p:grpSpPr>
      <p:sp>
        <p:nvSpPr>
          <p:cNvPr name="TextBox 2" id="2"/>
          <p:cNvSpPr txBox="true"/>
          <p:nvPr/>
        </p:nvSpPr>
        <p:spPr>
          <a:xfrm rot="5400000">
            <a:off x="14908650" y="796950"/>
            <a:ext cx="3343950" cy="1932900"/>
          </a:xfrm>
          <a:prstGeom prst="rect">
            <a:avLst/>
          </a:prstGeom>
        </p:spPr>
        <p:txBody>
          <a:bodyPr anchor="t" rtlCol="false" tIns="0" lIns="0" bIns="0" rIns="0">
            <a:spAutoFit/>
          </a:bodyPr>
          <a:lstStyle/>
          <a:p>
            <a:pPr algn="l">
              <a:lnSpc>
                <a:spcPts val="17064"/>
              </a:lnSpc>
            </a:pPr>
            <a:r>
              <a:rPr lang="en-US" sz="15800">
                <a:solidFill>
                  <a:srgbClr val="FFFFFF"/>
                </a:solidFill>
                <a:latin typeface="Bebas Neue"/>
                <a:ea typeface="Bebas Neue"/>
                <a:cs typeface="Bebas Neue"/>
                <a:sym typeface="Bebas Neue"/>
              </a:rPr>
              <a:t>/(AI)</a:t>
            </a:r>
          </a:p>
        </p:txBody>
      </p:sp>
      <p:grpSp>
        <p:nvGrpSpPr>
          <p:cNvPr name="Group 3" id="3"/>
          <p:cNvGrpSpPr/>
          <p:nvPr/>
        </p:nvGrpSpPr>
        <p:grpSpPr>
          <a:xfrm rot="0">
            <a:off x="12290162" y="2328618"/>
            <a:ext cx="1996800" cy="1996800"/>
            <a:chOff x="0" y="0"/>
            <a:chExt cx="2662400" cy="2662400"/>
          </a:xfrm>
        </p:grpSpPr>
        <p:sp>
          <p:nvSpPr>
            <p:cNvPr name="Freeform 4" id="4"/>
            <p:cNvSpPr/>
            <p:nvPr/>
          </p:nvSpPr>
          <p:spPr>
            <a:xfrm flipH="false" flipV="false" rot="0">
              <a:off x="0" y="0"/>
              <a:ext cx="2662428" cy="2662428"/>
            </a:xfrm>
            <a:custGeom>
              <a:avLst/>
              <a:gdLst/>
              <a:ahLst/>
              <a:cxnLst/>
              <a:rect r="r" b="b" t="t" l="l"/>
              <a:pathLst>
                <a:path h="2662428" w="2662428">
                  <a:moveTo>
                    <a:pt x="0" y="1331214"/>
                  </a:moveTo>
                  <a:cubicBezTo>
                    <a:pt x="0" y="596011"/>
                    <a:pt x="596011" y="0"/>
                    <a:pt x="1331214" y="0"/>
                  </a:cubicBezTo>
                  <a:cubicBezTo>
                    <a:pt x="2066417" y="0"/>
                    <a:pt x="2662428" y="596011"/>
                    <a:pt x="2662428" y="1331214"/>
                  </a:cubicBezTo>
                  <a:cubicBezTo>
                    <a:pt x="2662428" y="2066417"/>
                    <a:pt x="2066417" y="2662428"/>
                    <a:pt x="1331214" y="2662428"/>
                  </a:cubicBezTo>
                  <a:cubicBezTo>
                    <a:pt x="596011" y="2662428"/>
                    <a:pt x="0" y="2066417"/>
                    <a:pt x="0" y="1331214"/>
                  </a:cubicBezTo>
                  <a:close/>
                </a:path>
              </a:pathLst>
            </a:custGeom>
            <a:solidFill>
              <a:srgbClr val="000000">
                <a:alpha val="14510"/>
              </a:srgbClr>
            </a:solidFill>
          </p:spPr>
        </p:sp>
      </p:grpSp>
      <p:grpSp>
        <p:nvGrpSpPr>
          <p:cNvPr name="Group 5" id="5"/>
          <p:cNvGrpSpPr/>
          <p:nvPr/>
        </p:nvGrpSpPr>
        <p:grpSpPr>
          <a:xfrm rot="0">
            <a:off x="761600" y="1039200"/>
            <a:ext cx="12523200" cy="9248400"/>
            <a:chOff x="0" y="0"/>
            <a:chExt cx="16697600" cy="12331200"/>
          </a:xfrm>
        </p:grpSpPr>
        <p:sp>
          <p:nvSpPr>
            <p:cNvPr name="Freeform 6" id="6"/>
            <p:cNvSpPr/>
            <p:nvPr/>
          </p:nvSpPr>
          <p:spPr>
            <a:xfrm flipH="false" flipV="false" rot="0">
              <a:off x="0" y="0"/>
              <a:ext cx="16697579" cy="12331192"/>
            </a:xfrm>
            <a:custGeom>
              <a:avLst/>
              <a:gdLst/>
              <a:ahLst/>
              <a:cxnLst/>
              <a:rect r="r" b="b" t="t" l="l"/>
              <a:pathLst>
                <a:path h="12331192" w="16697579">
                  <a:moveTo>
                    <a:pt x="0" y="0"/>
                  </a:moveTo>
                  <a:lnTo>
                    <a:pt x="16697579" y="0"/>
                  </a:lnTo>
                  <a:lnTo>
                    <a:pt x="16697579" y="12331192"/>
                  </a:lnTo>
                  <a:lnTo>
                    <a:pt x="0" y="12331192"/>
                  </a:lnTo>
                  <a:close/>
                </a:path>
              </a:pathLst>
            </a:custGeom>
            <a:solidFill>
              <a:srgbClr val="191919"/>
            </a:solidFill>
          </p:spPr>
        </p:sp>
      </p:grpSp>
      <p:grpSp>
        <p:nvGrpSpPr>
          <p:cNvPr name="Group 7" id="7"/>
          <p:cNvGrpSpPr/>
          <p:nvPr/>
        </p:nvGrpSpPr>
        <p:grpSpPr>
          <a:xfrm rot="0">
            <a:off x="1430200" y="1664096"/>
            <a:ext cx="11160000" cy="8623200"/>
            <a:chOff x="0" y="0"/>
            <a:chExt cx="14880000" cy="11497600"/>
          </a:xfrm>
        </p:grpSpPr>
        <p:sp>
          <p:nvSpPr>
            <p:cNvPr name="Freeform 8" id="8"/>
            <p:cNvSpPr/>
            <p:nvPr/>
          </p:nvSpPr>
          <p:spPr>
            <a:xfrm flipH="false" flipV="false" rot="0">
              <a:off x="0" y="0"/>
              <a:ext cx="14879955" cy="11497564"/>
            </a:xfrm>
            <a:custGeom>
              <a:avLst/>
              <a:gdLst/>
              <a:ahLst/>
              <a:cxnLst/>
              <a:rect r="r" b="b" t="t" l="l"/>
              <a:pathLst>
                <a:path h="11497564" w="14879955">
                  <a:moveTo>
                    <a:pt x="0" y="0"/>
                  </a:moveTo>
                  <a:lnTo>
                    <a:pt x="14879955" y="0"/>
                  </a:lnTo>
                  <a:lnTo>
                    <a:pt x="14879955" y="11497564"/>
                  </a:lnTo>
                  <a:lnTo>
                    <a:pt x="0" y="11497564"/>
                  </a:lnTo>
                  <a:close/>
                </a:path>
              </a:pathLst>
            </a:custGeom>
            <a:solidFill>
              <a:srgbClr val="E7E7E7"/>
            </a:solidFill>
          </p:spPr>
        </p:sp>
      </p:grpSp>
      <p:sp>
        <p:nvSpPr>
          <p:cNvPr name="TextBox 9" id="9"/>
          <p:cNvSpPr txBox="true"/>
          <p:nvPr/>
        </p:nvSpPr>
        <p:spPr>
          <a:xfrm rot="0">
            <a:off x="2169725" y="3999900"/>
            <a:ext cx="10029150" cy="3676650"/>
          </a:xfrm>
          <a:prstGeom prst="rect">
            <a:avLst/>
          </a:prstGeom>
        </p:spPr>
        <p:txBody>
          <a:bodyPr anchor="t" rtlCol="false" tIns="0" lIns="0" bIns="0" rIns="0">
            <a:spAutoFit/>
          </a:bodyPr>
          <a:lstStyle/>
          <a:p>
            <a:pPr algn="l">
              <a:lnSpc>
                <a:spcPts val="14400"/>
              </a:lnSpc>
            </a:pPr>
            <a:r>
              <a:rPr lang="en-US" sz="12000">
                <a:solidFill>
                  <a:srgbClr val="191919"/>
                </a:solidFill>
                <a:latin typeface="Bebas Neue"/>
                <a:ea typeface="Bebas Neue"/>
                <a:cs typeface="Bebas Neue"/>
                <a:sym typeface="Bebas Neue"/>
              </a:rPr>
              <a:t>OBJECTIVES OF THE PROJECT</a:t>
            </a:r>
          </a:p>
        </p:txBody>
      </p:sp>
      <p:sp>
        <p:nvSpPr>
          <p:cNvPr name="TextBox 10" id="10"/>
          <p:cNvSpPr txBox="true"/>
          <p:nvPr/>
        </p:nvSpPr>
        <p:spPr>
          <a:xfrm rot="0">
            <a:off x="2169709" y="2770709"/>
            <a:ext cx="3582750" cy="1519800"/>
          </a:xfrm>
          <a:prstGeom prst="rect">
            <a:avLst/>
          </a:prstGeom>
        </p:spPr>
        <p:txBody>
          <a:bodyPr anchor="t" rtlCol="false" tIns="0" lIns="0" bIns="0" rIns="0">
            <a:spAutoFit/>
          </a:bodyPr>
          <a:lstStyle/>
          <a:p>
            <a:pPr algn="l">
              <a:lnSpc>
                <a:spcPts val="14400"/>
              </a:lnSpc>
            </a:pPr>
            <a:r>
              <a:rPr lang="en-US" sz="12000">
                <a:solidFill>
                  <a:srgbClr val="191919"/>
                </a:solidFill>
                <a:latin typeface="Bebas Neue"/>
                <a:ea typeface="Bebas Neue"/>
                <a:cs typeface="Bebas Neue"/>
                <a:sym typeface="Bebas Neue"/>
              </a:rPr>
              <a:t>02.</a:t>
            </a:r>
          </a:p>
        </p:txBody>
      </p:sp>
      <p:sp>
        <p:nvSpPr>
          <p:cNvPr name="Freeform 11" id="11"/>
          <p:cNvSpPr/>
          <p:nvPr/>
        </p:nvSpPr>
        <p:spPr>
          <a:xfrm flipH="false" flipV="false" rot="0">
            <a:off x="1233882" y="3084260"/>
            <a:ext cx="392602" cy="1545210"/>
          </a:xfrm>
          <a:custGeom>
            <a:avLst/>
            <a:gdLst/>
            <a:ahLst/>
            <a:cxnLst/>
            <a:rect r="r" b="b" t="t" l="l"/>
            <a:pathLst>
              <a:path h="1545210" w="392602">
                <a:moveTo>
                  <a:pt x="0" y="0"/>
                </a:moveTo>
                <a:lnTo>
                  <a:pt x="392602" y="0"/>
                </a:lnTo>
                <a:lnTo>
                  <a:pt x="392602" y="1545210"/>
                </a:lnTo>
                <a:lnTo>
                  <a:pt x="0" y="15452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2" id="12"/>
          <p:cNvSpPr/>
          <p:nvPr/>
        </p:nvSpPr>
        <p:spPr>
          <a:xfrm rot="15389">
            <a:off x="888245" y="8819775"/>
            <a:ext cx="10923409" cy="0"/>
          </a:xfrm>
          <a:prstGeom prst="line">
            <a:avLst/>
          </a:prstGeom>
          <a:ln cap="rnd" w="19050">
            <a:solidFill>
              <a:srgbClr val="191919"/>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0856425" y="3574675"/>
            <a:ext cx="7325550" cy="6662700"/>
          </a:xfrm>
          <a:prstGeom prst="rect">
            <a:avLst/>
          </a:prstGeom>
        </p:spPr>
        <p:txBody>
          <a:bodyPr anchor="t" rtlCol="false" tIns="0" lIns="0" bIns="0" rIns="0">
            <a:spAutoFit/>
          </a:bodyPr>
          <a:lstStyle/>
          <a:p>
            <a:pPr algn="r">
              <a:lnSpc>
                <a:spcPts val="17064"/>
              </a:lnSpc>
            </a:pPr>
            <a:r>
              <a:rPr lang="en-US" sz="15800">
                <a:solidFill>
                  <a:srgbClr val="5C64B8">
                    <a:alpha val="35686"/>
                  </a:srgbClr>
                </a:solidFill>
                <a:latin typeface="Bebas Neue"/>
                <a:ea typeface="Bebas Neue"/>
                <a:cs typeface="Bebas Neue"/>
                <a:sym typeface="Bebas Neue"/>
              </a:rPr>
              <a:t>ARTIFICIAL INTELLIGENCE (AI)</a:t>
            </a:r>
          </a:p>
        </p:txBody>
      </p:sp>
      <p:grpSp>
        <p:nvGrpSpPr>
          <p:cNvPr name="Group 3" id="3"/>
          <p:cNvGrpSpPr/>
          <p:nvPr/>
        </p:nvGrpSpPr>
        <p:grpSpPr>
          <a:xfrm rot="0">
            <a:off x="208545" y="266248"/>
            <a:ext cx="17822155" cy="9754505"/>
            <a:chOff x="0" y="0"/>
            <a:chExt cx="23762873" cy="13006006"/>
          </a:xfrm>
        </p:grpSpPr>
        <p:sp>
          <p:nvSpPr>
            <p:cNvPr name="Freeform 4" id="4"/>
            <p:cNvSpPr/>
            <p:nvPr/>
          </p:nvSpPr>
          <p:spPr>
            <a:xfrm flipH="false" flipV="false" rot="0">
              <a:off x="0" y="0"/>
              <a:ext cx="23762822" cy="13006023"/>
            </a:xfrm>
            <a:custGeom>
              <a:avLst/>
              <a:gdLst/>
              <a:ahLst/>
              <a:cxnLst/>
              <a:rect r="r" b="b" t="t" l="l"/>
              <a:pathLst>
                <a:path h="13006023" w="23762822">
                  <a:moveTo>
                    <a:pt x="0" y="0"/>
                  </a:moveTo>
                  <a:lnTo>
                    <a:pt x="23762822" y="0"/>
                  </a:lnTo>
                  <a:lnTo>
                    <a:pt x="23762822" y="13006023"/>
                  </a:lnTo>
                  <a:lnTo>
                    <a:pt x="0" y="13006023"/>
                  </a:lnTo>
                  <a:close/>
                </a:path>
              </a:pathLst>
            </a:custGeom>
            <a:solidFill>
              <a:srgbClr val="E7E7E7"/>
            </a:solidFill>
          </p:spPr>
        </p:sp>
      </p:grpSp>
      <p:grpSp>
        <p:nvGrpSpPr>
          <p:cNvPr name="Group 5" id="5"/>
          <p:cNvGrpSpPr/>
          <p:nvPr/>
        </p:nvGrpSpPr>
        <p:grpSpPr>
          <a:xfrm rot="0">
            <a:off x="348915" y="6377540"/>
            <a:ext cx="8356325" cy="820175"/>
            <a:chOff x="0" y="0"/>
            <a:chExt cx="72842212" cy="7149474"/>
          </a:xfrm>
        </p:grpSpPr>
        <p:sp>
          <p:nvSpPr>
            <p:cNvPr name="Freeform 6" id="6"/>
            <p:cNvSpPr/>
            <p:nvPr/>
          </p:nvSpPr>
          <p:spPr>
            <a:xfrm flipH="false" flipV="false" rot="0">
              <a:off x="454950" y="112291"/>
              <a:ext cx="71932203" cy="6924972"/>
            </a:xfrm>
            <a:custGeom>
              <a:avLst/>
              <a:gdLst/>
              <a:ahLst/>
              <a:cxnLst/>
              <a:rect r="r" b="b" t="t" l="l"/>
              <a:pathLst>
                <a:path h="6924972" w="71932203">
                  <a:moveTo>
                    <a:pt x="0" y="0"/>
                  </a:moveTo>
                  <a:lnTo>
                    <a:pt x="71932204" y="0"/>
                  </a:lnTo>
                  <a:lnTo>
                    <a:pt x="71932204" y="6924972"/>
                  </a:lnTo>
                  <a:lnTo>
                    <a:pt x="0" y="6924972"/>
                  </a:lnTo>
                </a:path>
              </a:pathLst>
            </a:custGeom>
            <a:solidFill>
              <a:srgbClr val="6E79E4"/>
            </a:solidFill>
          </p:spPr>
        </p:sp>
        <p:sp>
          <p:nvSpPr>
            <p:cNvPr name="Freeform 7" id="7"/>
            <p:cNvSpPr/>
            <p:nvPr/>
          </p:nvSpPr>
          <p:spPr>
            <a:xfrm flipH="false" flipV="false" rot="0">
              <a:off x="454950" y="0"/>
              <a:ext cx="72387152" cy="7149492"/>
            </a:xfrm>
            <a:custGeom>
              <a:avLst/>
              <a:gdLst/>
              <a:ahLst/>
              <a:cxnLst/>
              <a:rect r="r" b="b" t="t" l="l"/>
              <a:pathLst>
                <a:path h="7149492" w="72387152">
                  <a:moveTo>
                    <a:pt x="0" y="0"/>
                  </a:moveTo>
                  <a:lnTo>
                    <a:pt x="71932204" y="0"/>
                  </a:lnTo>
                  <a:cubicBezTo>
                    <a:pt x="72182427" y="0"/>
                    <a:pt x="72387153" y="50531"/>
                    <a:pt x="72387153" y="112291"/>
                  </a:cubicBezTo>
                  <a:lnTo>
                    <a:pt x="72387153" y="7037263"/>
                  </a:lnTo>
                  <a:cubicBezTo>
                    <a:pt x="72387153" y="7099022"/>
                    <a:pt x="72182427" y="7149492"/>
                    <a:pt x="71932204" y="7149492"/>
                  </a:cubicBezTo>
                  <a:lnTo>
                    <a:pt x="0" y="7149492"/>
                  </a:lnTo>
                  <a:lnTo>
                    <a:pt x="0" y="6924972"/>
                  </a:lnTo>
                  <a:lnTo>
                    <a:pt x="71932204" y="6924972"/>
                  </a:lnTo>
                  <a:lnTo>
                    <a:pt x="71932204" y="7037263"/>
                  </a:lnTo>
                  <a:lnTo>
                    <a:pt x="71477255" y="7037263"/>
                  </a:lnTo>
                  <a:lnTo>
                    <a:pt x="71477255" y="112291"/>
                  </a:lnTo>
                  <a:lnTo>
                    <a:pt x="71932204" y="112291"/>
                  </a:lnTo>
                  <a:lnTo>
                    <a:pt x="71932204" y="224582"/>
                  </a:lnTo>
                  <a:lnTo>
                    <a:pt x="0" y="224582"/>
                  </a:lnTo>
                  <a:close/>
                </a:path>
              </a:pathLst>
            </a:custGeom>
            <a:solidFill>
              <a:srgbClr val="191919"/>
            </a:solidFill>
          </p:spPr>
        </p:sp>
      </p:grpSp>
      <p:grpSp>
        <p:nvGrpSpPr>
          <p:cNvPr name="Group 8" id="8"/>
          <p:cNvGrpSpPr/>
          <p:nvPr/>
        </p:nvGrpSpPr>
        <p:grpSpPr>
          <a:xfrm rot="0">
            <a:off x="348915" y="3170575"/>
            <a:ext cx="8356325" cy="932167"/>
            <a:chOff x="0" y="0"/>
            <a:chExt cx="72842212" cy="8125714"/>
          </a:xfrm>
        </p:grpSpPr>
        <p:sp>
          <p:nvSpPr>
            <p:cNvPr name="Freeform 9" id="9"/>
            <p:cNvSpPr/>
            <p:nvPr/>
          </p:nvSpPr>
          <p:spPr>
            <a:xfrm flipH="false" flipV="false" rot="0">
              <a:off x="454950" y="127624"/>
              <a:ext cx="71932203" cy="7870556"/>
            </a:xfrm>
            <a:custGeom>
              <a:avLst/>
              <a:gdLst/>
              <a:ahLst/>
              <a:cxnLst/>
              <a:rect r="r" b="b" t="t" l="l"/>
              <a:pathLst>
                <a:path h="7870556" w="71932203">
                  <a:moveTo>
                    <a:pt x="0" y="0"/>
                  </a:moveTo>
                  <a:lnTo>
                    <a:pt x="71932204" y="0"/>
                  </a:lnTo>
                  <a:lnTo>
                    <a:pt x="71932204" y="7870556"/>
                  </a:lnTo>
                  <a:lnTo>
                    <a:pt x="0" y="7870556"/>
                  </a:lnTo>
                </a:path>
              </a:pathLst>
            </a:custGeom>
            <a:solidFill>
              <a:srgbClr val="6E79E4"/>
            </a:solidFill>
          </p:spPr>
        </p:sp>
        <p:sp>
          <p:nvSpPr>
            <p:cNvPr name="Freeform 10" id="10"/>
            <p:cNvSpPr/>
            <p:nvPr/>
          </p:nvSpPr>
          <p:spPr>
            <a:xfrm flipH="false" flipV="false" rot="0">
              <a:off x="454950" y="0"/>
              <a:ext cx="72387152" cy="8125732"/>
            </a:xfrm>
            <a:custGeom>
              <a:avLst/>
              <a:gdLst/>
              <a:ahLst/>
              <a:cxnLst/>
              <a:rect r="r" b="b" t="t" l="l"/>
              <a:pathLst>
                <a:path h="8125732" w="72387152">
                  <a:moveTo>
                    <a:pt x="0" y="0"/>
                  </a:moveTo>
                  <a:lnTo>
                    <a:pt x="71932204" y="0"/>
                  </a:lnTo>
                  <a:cubicBezTo>
                    <a:pt x="72182427" y="0"/>
                    <a:pt x="72387153" y="57431"/>
                    <a:pt x="72387153" y="127624"/>
                  </a:cubicBezTo>
                  <a:lnTo>
                    <a:pt x="72387153" y="7998180"/>
                  </a:lnTo>
                  <a:cubicBezTo>
                    <a:pt x="72387153" y="8068373"/>
                    <a:pt x="72182427" y="8125732"/>
                    <a:pt x="71932204" y="8125732"/>
                  </a:cubicBezTo>
                  <a:lnTo>
                    <a:pt x="0" y="8125732"/>
                  </a:lnTo>
                  <a:lnTo>
                    <a:pt x="0" y="7870557"/>
                  </a:lnTo>
                  <a:lnTo>
                    <a:pt x="71932204" y="7870557"/>
                  </a:lnTo>
                  <a:lnTo>
                    <a:pt x="71932204" y="7998180"/>
                  </a:lnTo>
                  <a:lnTo>
                    <a:pt x="71477255" y="7998180"/>
                  </a:lnTo>
                  <a:lnTo>
                    <a:pt x="71477255" y="127624"/>
                  </a:lnTo>
                  <a:lnTo>
                    <a:pt x="71932204" y="127624"/>
                  </a:lnTo>
                  <a:lnTo>
                    <a:pt x="71932204" y="255248"/>
                  </a:lnTo>
                  <a:lnTo>
                    <a:pt x="0" y="255248"/>
                  </a:lnTo>
                  <a:close/>
                </a:path>
              </a:pathLst>
            </a:custGeom>
            <a:solidFill>
              <a:srgbClr val="191919"/>
            </a:solidFill>
          </p:spPr>
        </p:sp>
      </p:grpSp>
      <p:grpSp>
        <p:nvGrpSpPr>
          <p:cNvPr name="Group 11" id="11"/>
          <p:cNvGrpSpPr/>
          <p:nvPr/>
        </p:nvGrpSpPr>
        <p:grpSpPr>
          <a:xfrm rot="0">
            <a:off x="348915" y="388226"/>
            <a:ext cx="6966831" cy="803829"/>
            <a:chOff x="0" y="0"/>
            <a:chExt cx="60729970" cy="7006992"/>
          </a:xfrm>
        </p:grpSpPr>
        <p:sp>
          <p:nvSpPr>
            <p:cNvPr name="Freeform 12" id="12"/>
            <p:cNvSpPr/>
            <p:nvPr/>
          </p:nvSpPr>
          <p:spPr>
            <a:xfrm flipH="false" flipV="false" rot="0">
              <a:off x="379301" y="110053"/>
              <a:ext cx="59971279" cy="6786964"/>
            </a:xfrm>
            <a:custGeom>
              <a:avLst/>
              <a:gdLst/>
              <a:ahLst/>
              <a:cxnLst/>
              <a:rect r="r" b="b" t="t" l="l"/>
              <a:pathLst>
                <a:path h="6786964" w="59971279">
                  <a:moveTo>
                    <a:pt x="0" y="0"/>
                  </a:moveTo>
                  <a:lnTo>
                    <a:pt x="59971279" y="0"/>
                  </a:lnTo>
                  <a:lnTo>
                    <a:pt x="59971279" y="6786964"/>
                  </a:lnTo>
                  <a:lnTo>
                    <a:pt x="0" y="6786964"/>
                  </a:lnTo>
                </a:path>
              </a:pathLst>
            </a:custGeom>
            <a:solidFill>
              <a:srgbClr val="6E79E4"/>
            </a:solidFill>
          </p:spPr>
        </p:sp>
        <p:sp>
          <p:nvSpPr>
            <p:cNvPr name="Freeform 13" id="13"/>
            <p:cNvSpPr/>
            <p:nvPr/>
          </p:nvSpPr>
          <p:spPr>
            <a:xfrm flipH="false" flipV="false" rot="0">
              <a:off x="379301" y="0"/>
              <a:ext cx="60350580" cy="7007010"/>
            </a:xfrm>
            <a:custGeom>
              <a:avLst/>
              <a:gdLst/>
              <a:ahLst/>
              <a:cxnLst/>
              <a:rect r="r" b="b" t="t" l="l"/>
              <a:pathLst>
                <a:path h="7007010" w="60350580">
                  <a:moveTo>
                    <a:pt x="0" y="0"/>
                  </a:moveTo>
                  <a:lnTo>
                    <a:pt x="59971279" y="0"/>
                  </a:lnTo>
                  <a:cubicBezTo>
                    <a:pt x="60179892" y="0"/>
                    <a:pt x="60350580" y="49524"/>
                    <a:pt x="60350580" y="110053"/>
                  </a:cubicBezTo>
                  <a:lnTo>
                    <a:pt x="60350580" y="6897017"/>
                  </a:lnTo>
                  <a:cubicBezTo>
                    <a:pt x="60350580" y="6957546"/>
                    <a:pt x="60179892" y="7007010"/>
                    <a:pt x="59971279" y="7007010"/>
                  </a:cubicBezTo>
                  <a:lnTo>
                    <a:pt x="0" y="7007010"/>
                  </a:lnTo>
                  <a:lnTo>
                    <a:pt x="0" y="6786964"/>
                  </a:lnTo>
                  <a:lnTo>
                    <a:pt x="59971279" y="6786964"/>
                  </a:lnTo>
                  <a:lnTo>
                    <a:pt x="59971279" y="6897017"/>
                  </a:lnTo>
                  <a:lnTo>
                    <a:pt x="59591978" y="6897017"/>
                  </a:lnTo>
                  <a:lnTo>
                    <a:pt x="59591978" y="110053"/>
                  </a:lnTo>
                  <a:lnTo>
                    <a:pt x="59971279" y="110053"/>
                  </a:lnTo>
                  <a:lnTo>
                    <a:pt x="59971279" y="220106"/>
                  </a:lnTo>
                  <a:lnTo>
                    <a:pt x="0" y="220106"/>
                  </a:lnTo>
                  <a:close/>
                </a:path>
              </a:pathLst>
            </a:custGeom>
            <a:solidFill>
              <a:srgbClr val="191919"/>
            </a:solidFill>
          </p:spPr>
        </p:sp>
      </p:grpSp>
      <p:sp>
        <p:nvSpPr>
          <p:cNvPr name="TextBox 14" id="14"/>
          <p:cNvSpPr txBox="true"/>
          <p:nvPr/>
        </p:nvSpPr>
        <p:spPr>
          <a:xfrm rot="0">
            <a:off x="208545" y="510722"/>
            <a:ext cx="6543005" cy="596937"/>
          </a:xfrm>
          <a:prstGeom prst="rect">
            <a:avLst/>
          </a:prstGeom>
        </p:spPr>
        <p:txBody>
          <a:bodyPr anchor="t" rtlCol="false" tIns="0" lIns="0" bIns="0" rIns="0">
            <a:spAutoFit/>
          </a:bodyPr>
          <a:lstStyle/>
          <a:p>
            <a:pPr algn="ctr">
              <a:lnSpc>
                <a:spcPts val="4502"/>
              </a:lnSpc>
              <a:spcBef>
                <a:spcPct val="0"/>
              </a:spcBef>
            </a:pPr>
            <a:r>
              <a:rPr lang="en-US" sz="4169">
                <a:solidFill>
                  <a:srgbClr val="000000"/>
                </a:solidFill>
                <a:latin typeface="Bebas Neue"/>
                <a:ea typeface="Bebas Neue"/>
                <a:cs typeface="Bebas Neue"/>
                <a:sym typeface="Bebas Neue"/>
              </a:rPr>
              <a:t>1. Camera Setup and Input Capture</a:t>
            </a:r>
          </a:p>
        </p:txBody>
      </p:sp>
      <p:sp>
        <p:nvSpPr>
          <p:cNvPr name="TextBox 15" id="15"/>
          <p:cNvSpPr txBox="true"/>
          <p:nvPr/>
        </p:nvSpPr>
        <p:spPr>
          <a:xfrm rot="0">
            <a:off x="348915" y="3450850"/>
            <a:ext cx="8009365" cy="585581"/>
          </a:xfrm>
          <a:prstGeom prst="rect">
            <a:avLst/>
          </a:prstGeom>
        </p:spPr>
        <p:txBody>
          <a:bodyPr anchor="t" rtlCol="false" tIns="0" lIns="0" bIns="0" rIns="0">
            <a:spAutoFit/>
          </a:bodyPr>
          <a:lstStyle/>
          <a:p>
            <a:pPr algn="ctr">
              <a:lnSpc>
                <a:spcPts val="4496"/>
              </a:lnSpc>
              <a:spcBef>
                <a:spcPct val="0"/>
              </a:spcBef>
            </a:pPr>
            <a:r>
              <a:rPr lang="en-US" sz="4163">
                <a:solidFill>
                  <a:srgbClr val="000000"/>
                </a:solidFill>
                <a:latin typeface="Bebas Neue"/>
                <a:ea typeface="Bebas Neue"/>
                <a:cs typeface="Bebas Neue"/>
                <a:sym typeface="Bebas Neue"/>
              </a:rPr>
              <a:t>2. Hand Detection and Landmark Extraction</a:t>
            </a:r>
          </a:p>
        </p:txBody>
      </p:sp>
      <p:sp>
        <p:nvSpPr>
          <p:cNvPr name="TextBox 16" id="16"/>
          <p:cNvSpPr txBox="true"/>
          <p:nvPr/>
        </p:nvSpPr>
        <p:spPr>
          <a:xfrm rot="0">
            <a:off x="-861128" y="6584388"/>
            <a:ext cx="7013032" cy="596951"/>
          </a:xfrm>
          <a:prstGeom prst="rect">
            <a:avLst/>
          </a:prstGeom>
        </p:spPr>
        <p:txBody>
          <a:bodyPr anchor="t" rtlCol="false" tIns="0" lIns="0" bIns="0" rIns="0">
            <a:spAutoFit/>
          </a:bodyPr>
          <a:lstStyle/>
          <a:p>
            <a:pPr algn="ctr">
              <a:lnSpc>
                <a:spcPts val="4503"/>
              </a:lnSpc>
              <a:spcBef>
                <a:spcPct val="0"/>
              </a:spcBef>
            </a:pPr>
            <a:r>
              <a:rPr lang="en-US" sz="4170">
                <a:solidFill>
                  <a:srgbClr val="000000"/>
                </a:solidFill>
                <a:latin typeface="Bebas Neue"/>
                <a:ea typeface="Bebas Neue"/>
                <a:cs typeface="Bebas Neue"/>
                <a:sym typeface="Bebas Neue"/>
              </a:rPr>
              <a:t>3. Gesture Classification</a:t>
            </a:r>
          </a:p>
        </p:txBody>
      </p:sp>
      <p:sp>
        <p:nvSpPr>
          <p:cNvPr name="TextBox 17" id="17"/>
          <p:cNvSpPr txBox="true"/>
          <p:nvPr/>
        </p:nvSpPr>
        <p:spPr>
          <a:xfrm rot="0">
            <a:off x="366705" y="6977615"/>
            <a:ext cx="16892595" cy="2623413"/>
          </a:xfrm>
          <a:prstGeom prst="rect">
            <a:avLst/>
          </a:prstGeom>
        </p:spPr>
        <p:txBody>
          <a:bodyPr anchor="t" rtlCol="false" tIns="0" lIns="0" bIns="0" rIns="0">
            <a:spAutoFit/>
          </a:bodyPr>
          <a:lstStyle/>
          <a:p>
            <a:pPr algn="l">
              <a:lnSpc>
                <a:spcPts val="2986"/>
              </a:lnSpc>
              <a:spcBef>
                <a:spcPct val="0"/>
              </a:spcBef>
            </a:pPr>
          </a:p>
          <a:p>
            <a:pPr algn="l" marL="596953" indent="-298476" lvl="1">
              <a:lnSpc>
                <a:spcPts val="2986"/>
              </a:lnSpc>
              <a:buFont typeface="Arial"/>
              <a:buChar char="•"/>
            </a:pPr>
            <a:r>
              <a:rPr lang="en-US" sz="2764">
                <a:solidFill>
                  <a:srgbClr val="000000"/>
                </a:solidFill>
                <a:latin typeface="Raleway"/>
                <a:ea typeface="Raleway"/>
                <a:cs typeface="Raleway"/>
                <a:sym typeface="Raleway"/>
              </a:rPr>
              <a:t>Specific finger combinations are mapped to commands such as:</a:t>
            </a:r>
          </a:p>
          <a:p>
            <a:pPr algn="l" marL="596953" indent="-298476" lvl="1">
              <a:lnSpc>
                <a:spcPts val="2986"/>
              </a:lnSpc>
              <a:buFont typeface="Arial"/>
              <a:buChar char="•"/>
            </a:pPr>
            <a:r>
              <a:rPr lang="en-US" sz="2764">
                <a:solidFill>
                  <a:srgbClr val="000000"/>
                </a:solidFill>
                <a:latin typeface="Raleway"/>
                <a:ea typeface="Raleway"/>
                <a:cs typeface="Raleway"/>
                <a:sym typeface="Raleway"/>
              </a:rPr>
              <a:t>Moving between slides.</a:t>
            </a:r>
          </a:p>
          <a:p>
            <a:pPr algn="l" marL="596953" indent="-298476" lvl="1">
              <a:lnSpc>
                <a:spcPts val="2986"/>
              </a:lnSpc>
              <a:buFont typeface="Arial"/>
              <a:buChar char="•"/>
            </a:pPr>
            <a:r>
              <a:rPr lang="en-US" sz="2764">
                <a:solidFill>
                  <a:srgbClr val="000000"/>
                </a:solidFill>
                <a:latin typeface="Raleway"/>
                <a:ea typeface="Raleway"/>
                <a:cs typeface="Raleway"/>
                <a:sym typeface="Raleway"/>
              </a:rPr>
              <a:t>Annotating directly on the current slide.</a:t>
            </a:r>
          </a:p>
          <a:p>
            <a:pPr algn="l" marL="596953" indent="-298476" lvl="1">
              <a:lnSpc>
                <a:spcPts val="2986"/>
              </a:lnSpc>
              <a:buFont typeface="Arial"/>
              <a:buChar char="•"/>
            </a:pPr>
            <a:r>
              <a:rPr lang="en-US" sz="2764">
                <a:solidFill>
                  <a:srgbClr val="000000"/>
                </a:solidFill>
                <a:latin typeface="Raleway"/>
                <a:ea typeface="Raleway"/>
                <a:cs typeface="Raleway"/>
                <a:sym typeface="Raleway"/>
              </a:rPr>
              <a:t>Erasing drawings.</a:t>
            </a:r>
          </a:p>
          <a:p>
            <a:pPr algn="l" marL="596953" indent="-298476" lvl="1">
              <a:lnSpc>
                <a:spcPts val="2986"/>
              </a:lnSpc>
              <a:buFont typeface="Arial"/>
              <a:buChar char="•"/>
            </a:pPr>
            <a:r>
              <a:rPr lang="en-US" sz="2764">
                <a:solidFill>
                  <a:srgbClr val="000000"/>
                </a:solidFill>
                <a:latin typeface="Raleway"/>
                <a:ea typeface="Raleway"/>
                <a:cs typeface="Raleway"/>
                <a:sym typeface="Raleway"/>
              </a:rPr>
              <a:t>Displaying a pointer circle for highlighting.</a:t>
            </a:r>
          </a:p>
          <a:p>
            <a:pPr algn="l" marL="596953" indent="-298476" lvl="1">
              <a:lnSpc>
                <a:spcPts val="2986"/>
              </a:lnSpc>
              <a:buFont typeface="Arial"/>
              <a:buChar char="•"/>
            </a:pPr>
            <a:r>
              <a:rPr lang="en-US" sz="2764">
                <a:solidFill>
                  <a:srgbClr val="000000"/>
                </a:solidFill>
                <a:latin typeface="Raleway"/>
                <a:ea typeface="Raleway"/>
                <a:cs typeface="Raleway"/>
                <a:sym typeface="Raleway"/>
              </a:rPr>
              <a:t>These gestures are interpreted dynamically as the user moves their hand within the camera frame.</a:t>
            </a:r>
          </a:p>
        </p:txBody>
      </p:sp>
      <p:sp>
        <p:nvSpPr>
          <p:cNvPr name="TextBox 18" id="18"/>
          <p:cNvSpPr txBox="true"/>
          <p:nvPr/>
        </p:nvSpPr>
        <p:spPr>
          <a:xfrm rot="0">
            <a:off x="366705" y="4150367"/>
            <a:ext cx="14152495" cy="2279751"/>
          </a:xfrm>
          <a:prstGeom prst="rect">
            <a:avLst/>
          </a:prstGeom>
        </p:spPr>
        <p:txBody>
          <a:bodyPr anchor="t" rtlCol="false" tIns="0" lIns="0" bIns="0" rIns="0">
            <a:spAutoFit/>
          </a:bodyPr>
          <a:lstStyle/>
          <a:p>
            <a:pPr algn="l">
              <a:lnSpc>
                <a:spcPts val="1582"/>
              </a:lnSpc>
              <a:spcBef>
                <a:spcPct val="0"/>
              </a:spcBef>
            </a:pPr>
          </a:p>
          <a:p>
            <a:pPr algn="l" marL="596953" indent="-298476" lvl="1">
              <a:lnSpc>
                <a:spcPts val="2986"/>
              </a:lnSpc>
              <a:buFont typeface="Arial"/>
              <a:buChar char="•"/>
            </a:pPr>
            <a:r>
              <a:rPr lang="en-US" sz="2764">
                <a:solidFill>
                  <a:srgbClr val="000000"/>
                </a:solidFill>
                <a:latin typeface="Raleway"/>
                <a:ea typeface="Raleway"/>
                <a:cs typeface="Raleway"/>
                <a:sym typeface="Raleway"/>
              </a:rPr>
              <a:t>The system uses the Hand Detector class from cv zone.Hand Tracking Module to detect hands with high accuracy.</a:t>
            </a:r>
          </a:p>
          <a:p>
            <a:pPr algn="l" marL="596953" indent="-298476" lvl="1">
              <a:lnSpc>
                <a:spcPts val="2986"/>
              </a:lnSpc>
              <a:buFont typeface="Arial"/>
              <a:buChar char="•"/>
            </a:pPr>
            <a:r>
              <a:rPr lang="en-US" sz="2764">
                <a:solidFill>
                  <a:srgbClr val="000000"/>
                </a:solidFill>
                <a:latin typeface="Raleway"/>
                <a:ea typeface="Raleway"/>
                <a:cs typeface="Raleway"/>
                <a:sym typeface="Raleway"/>
              </a:rPr>
              <a:t>The module identifies 21 unique landmarks on the hand and returns their (x, y) coordinates.</a:t>
            </a:r>
          </a:p>
          <a:p>
            <a:pPr algn="l" marL="596953" indent="-298476" lvl="1">
              <a:lnSpc>
                <a:spcPts val="2986"/>
              </a:lnSpc>
              <a:buFont typeface="Arial"/>
              <a:buChar char="•"/>
            </a:pPr>
            <a:r>
              <a:rPr lang="en-US" sz="2764">
                <a:solidFill>
                  <a:srgbClr val="000000"/>
                </a:solidFill>
                <a:latin typeface="Raleway"/>
                <a:ea typeface="Raleway"/>
                <a:cs typeface="Raleway"/>
                <a:sym typeface="Raleway"/>
              </a:rPr>
              <a:t>The number of raised fingers is determined using the fingers Up() function.</a:t>
            </a:r>
          </a:p>
          <a:p>
            <a:pPr algn="l">
              <a:lnSpc>
                <a:spcPts val="1582"/>
              </a:lnSpc>
              <a:spcBef>
                <a:spcPct val="0"/>
              </a:spcBef>
            </a:pPr>
          </a:p>
        </p:txBody>
      </p:sp>
      <p:sp>
        <p:nvSpPr>
          <p:cNvPr name="TextBox 19" id="19"/>
          <p:cNvSpPr txBox="true"/>
          <p:nvPr/>
        </p:nvSpPr>
        <p:spPr>
          <a:xfrm rot="0">
            <a:off x="348915" y="1247821"/>
            <a:ext cx="17181336" cy="1708632"/>
          </a:xfrm>
          <a:prstGeom prst="rect">
            <a:avLst/>
          </a:prstGeom>
        </p:spPr>
        <p:txBody>
          <a:bodyPr anchor="t" rtlCol="false" tIns="0" lIns="0" bIns="0" rIns="0">
            <a:spAutoFit/>
          </a:bodyPr>
          <a:lstStyle/>
          <a:p>
            <a:pPr algn="l">
              <a:lnSpc>
                <a:spcPts val="1582"/>
              </a:lnSpc>
              <a:spcBef>
                <a:spcPct val="0"/>
              </a:spcBef>
            </a:pPr>
          </a:p>
          <a:p>
            <a:pPr algn="l" marL="596953" indent="-298476" lvl="1">
              <a:lnSpc>
                <a:spcPts val="2986"/>
              </a:lnSpc>
              <a:buFont typeface="Arial"/>
              <a:buChar char="•"/>
            </a:pPr>
            <a:r>
              <a:rPr lang="en-US" sz="2764">
                <a:solidFill>
                  <a:srgbClr val="000000"/>
                </a:solidFill>
                <a:latin typeface="Raleway"/>
                <a:ea typeface="Raleway"/>
                <a:cs typeface="Raleway"/>
                <a:sym typeface="Raleway"/>
              </a:rPr>
              <a:t>The webcam is initialized using OpenCV with a resolution of 1280×720.</a:t>
            </a:r>
          </a:p>
          <a:p>
            <a:pPr algn="l" marL="596953" indent="-298476" lvl="1">
              <a:lnSpc>
                <a:spcPts val="2986"/>
              </a:lnSpc>
              <a:buFont typeface="Arial"/>
              <a:buChar char="•"/>
            </a:pPr>
            <a:r>
              <a:rPr lang="en-US" sz="2764">
                <a:solidFill>
                  <a:srgbClr val="000000"/>
                </a:solidFill>
                <a:latin typeface="Raleway"/>
                <a:ea typeface="Raleway"/>
                <a:cs typeface="Raleway"/>
                <a:sym typeface="Raleway"/>
              </a:rPr>
              <a:t>Frames are horizontally flipped for a mirror-like viewing experience.</a:t>
            </a:r>
          </a:p>
          <a:p>
            <a:pPr algn="l" marL="596953" indent="-298476" lvl="1">
              <a:lnSpc>
                <a:spcPts val="2986"/>
              </a:lnSpc>
              <a:buFont typeface="Arial"/>
              <a:buChar char="•"/>
            </a:pPr>
            <a:r>
              <a:rPr lang="en-US" sz="2764">
                <a:solidFill>
                  <a:srgbClr val="000000"/>
                </a:solidFill>
                <a:latin typeface="Raleway"/>
                <a:ea typeface="Raleway"/>
                <a:cs typeface="Raleway"/>
                <a:sym typeface="Raleway"/>
              </a:rPr>
              <a:t>A green threshold line divides the frame into two zones — upper for slide control and lower for annotation.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0856425" y="3574675"/>
            <a:ext cx="7325550" cy="6662700"/>
          </a:xfrm>
          <a:prstGeom prst="rect">
            <a:avLst/>
          </a:prstGeom>
        </p:spPr>
        <p:txBody>
          <a:bodyPr anchor="t" rtlCol="false" tIns="0" lIns="0" bIns="0" rIns="0">
            <a:spAutoFit/>
          </a:bodyPr>
          <a:lstStyle/>
          <a:p>
            <a:pPr algn="r">
              <a:lnSpc>
                <a:spcPts val="17064"/>
              </a:lnSpc>
            </a:pPr>
            <a:r>
              <a:rPr lang="en-US" sz="15800">
                <a:solidFill>
                  <a:srgbClr val="5C64B8">
                    <a:alpha val="35686"/>
                  </a:srgbClr>
                </a:solidFill>
                <a:latin typeface="Bebas Neue"/>
                <a:ea typeface="Bebas Neue"/>
                <a:cs typeface="Bebas Neue"/>
                <a:sym typeface="Bebas Neue"/>
              </a:rPr>
              <a:t>ARTIFICIAL INTELLIGENCE (AI)</a:t>
            </a:r>
          </a:p>
        </p:txBody>
      </p:sp>
      <p:grpSp>
        <p:nvGrpSpPr>
          <p:cNvPr name="Group 3" id="3"/>
          <p:cNvGrpSpPr/>
          <p:nvPr/>
        </p:nvGrpSpPr>
        <p:grpSpPr>
          <a:xfrm rot="0">
            <a:off x="232922" y="266248"/>
            <a:ext cx="17822155" cy="9754505"/>
            <a:chOff x="0" y="0"/>
            <a:chExt cx="23762873" cy="13006006"/>
          </a:xfrm>
        </p:grpSpPr>
        <p:sp>
          <p:nvSpPr>
            <p:cNvPr name="Freeform 4" id="4"/>
            <p:cNvSpPr/>
            <p:nvPr/>
          </p:nvSpPr>
          <p:spPr>
            <a:xfrm flipH="false" flipV="false" rot="0">
              <a:off x="0" y="0"/>
              <a:ext cx="23762822" cy="13006023"/>
            </a:xfrm>
            <a:custGeom>
              <a:avLst/>
              <a:gdLst/>
              <a:ahLst/>
              <a:cxnLst/>
              <a:rect r="r" b="b" t="t" l="l"/>
              <a:pathLst>
                <a:path h="13006023" w="23762822">
                  <a:moveTo>
                    <a:pt x="0" y="0"/>
                  </a:moveTo>
                  <a:lnTo>
                    <a:pt x="23762822" y="0"/>
                  </a:lnTo>
                  <a:lnTo>
                    <a:pt x="23762822" y="13006023"/>
                  </a:lnTo>
                  <a:lnTo>
                    <a:pt x="0" y="13006023"/>
                  </a:lnTo>
                  <a:close/>
                </a:path>
              </a:pathLst>
            </a:custGeom>
            <a:solidFill>
              <a:srgbClr val="E7E7E7"/>
            </a:solidFill>
          </p:spPr>
        </p:sp>
      </p:grpSp>
      <p:grpSp>
        <p:nvGrpSpPr>
          <p:cNvPr name="Group 5" id="5"/>
          <p:cNvGrpSpPr/>
          <p:nvPr/>
        </p:nvGrpSpPr>
        <p:grpSpPr>
          <a:xfrm rot="0">
            <a:off x="366705" y="6980815"/>
            <a:ext cx="8356325" cy="820175"/>
            <a:chOff x="0" y="0"/>
            <a:chExt cx="72842212" cy="7149474"/>
          </a:xfrm>
        </p:grpSpPr>
        <p:sp>
          <p:nvSpPr>
            <p:cNvPr name="Freeform 6" id="6"/>
            <p:cNvSpPr/>
            <p:nvPr/>
          </p:nvSpPr>
          <p:spPr>
            <a:xfrm flipH="false" flipV="false" rot="0">
              <a:off x="454950" y="112291"/>
              <a:ext cx="71932203" cy="6924972"/>
            </a:xfrm>
            <a:custGeom>
              <a:avLst/>
              <a:gdLst/>
              <a:ahLst/>
              <a:cxnLst/>
              <a:rect r="r" b="b" t="t" l="l"/>
              <a:pathLst>
                <a:path h="6924972" w="71932203">
                  <a:moveTo>
                    <a:pt x="0" y="0"/>
                  </a:moveTo>
                  <a:lnTo>
                    <a:pt x="71932204" y="0"/>
                  </a:lnTo>
                  <a:lnTo>
                    <a:pt x="71932204" y="6924972"/>
                  </a:lnTo>
                  <a:lnTo>
                    <a:pt x="0" y="6924972"/>
                  </a:lnTo>
                </a:path>
              </a:pathLst>
            </a:custGeom>
            <a:solidFill>
              <a:srgbClr val="6E79E4"/>
            </a:solidFill>
          </p:spPr>
        </p:sp>
        <p:sp>
          <p:nvSpPr>
            <p:cNvPr name="Freeform 7" id="7"/>
            <p:cNvSpPr/>
            <p:nvPr/>
          </p:nvSpPr>
          <p:spPr>
            <a:xfrm flipH="false" flipV="false" rot="0">
              <a:off x="454950" y="0"/>
              <a:ext cx="72387152" cy="7149492"/>
            </a:xfrm>
            <a:custGeom>
              <a:avLst/>
              <a:gdLst/>
              <a:ahLst/>
              <a:cxnLst/>
              <a:rect r="r" b="b" t="t" l="l"/>
              <a:pathLst>
                <a:path h="7149492" w="72387152">
                  <a:moveTo>
                    <a:pt x="0" y="0"/>
                  </a:moveTo>
                  <a:lnTo>
                    <a:pt x="71932204" y="0"/>
                  </a:lnTo>
                  <a:cubicBezTo>
                    <a:pt x="72182427" y="0"/>
                    <a:pt x="72387153" y="50531"/>
                    <a:pt x="72387153" y="112291"/>
                  </a:cubicBezTo>
                  <a:lnTo>
                    <a:pt x="72387153" y="7037263"/>
                  </a:lnTo>
                  <a:cubicBezTo>
                    <a:pt x="72387153" y="7099022"/>
                    <a:pt x="72182427" y="7149492"/>
                    <a:pt x="71932204" y="7149492"/>
                  </a:cubicBezTo>
                  <a:lnTo>
                    <a:pt x="0" y="7149492"/>
                  </a:lnTo>
                  <a:lnTo>
                    <a:pt x="0" y="6924972"/>
                  </a:lnTo>
                  <a:lnTo>
                    <a:pt x="71932204" y="6924972"/>
                  </a:lnTo>
                  <a:lnTo>
                    <a:pt x="71932204" y="7037263"/>
                  </a:lnTo>
                  <a:lnTo>
                    <a:pt x="71477255" y="7037263"/>
                  </a:lnTo>
                  <a:lnTo>
                    <a:pt x="71477255" y="112291"/>
                  </a:lnTo>
                  <a:lnTo>
                    <a:pt x="71932204" y="112291"/>
                  </a:lnTo>
                  <a:lnTo>
                    <a:pt x="71932204" y="224582"/>
                  </a:lnTo>
                  <a:lnTo>
                    <a:pt x="0" y="224582"/>
                  </a:lnTo>
                  <a:close/>
                </a:path>
              </a:pathLst>
            </a:custGeom>
            <a:solidFill>
              <a:srgbClr val="191919"/>
            </a:solidFill>
          </p:spPr>
        </p:sp>
      </p:grpSp>
      <p:grpSp>
        <p:nvGrpSpPr>
          <p:cNvPr name="Group 8" id="8"/>
          <p:cNvGrpSpPr/>
          <p:nvPr/>
        </p:nvGrpSpPr>
        <p:grpSpPr>
          <a:xfrm rot="0">
            <a:off x="348915" y="3797893"/>
            <a:ext cx="9063766" cy="932167"/>
            <a:chOff x="0" y="0"/>
            <a:chExt cx="79008982" cy="8125714"/>
          </a:xfrm>
        </p:grpSpPr>
        <p:sp>
          <p:nvSpPr>
            <p:cNvPr name="Freeform 9" id="9"/>
            <p:cNvSpPr/>
            <p:nvPr/>
          </p:nvSpPr>
          <p:spPr>
            <a:xfrm flipH="false" flipV="false" rot="0">
              <a:off x="493466" y="127624"/>
              <a:ext cx="78021934" cy="7870556"/>
            </a:xfrm>
            <a:custGeom>
              <a:avLst/>
              <a:gdLst/>
              <a:ahLst/>
              <a:cxnLst/>
              <a:rect r="r" b="b" t="t" l="l"/>
              <a:pathLst>
                <a:path h="7870556" w="78021934">
                  <a:moveTo>
                    <a:pt x="0" y="0"/>
                  </a:moveTo>
                  <a:lnTo>
                    <a:pt x="78021934" y="0"/>
                  </a:lnTo>
                  <a:lnTo>
                    <a:pt x="78021934" y="7870556"/>
                  </a:lnTo>
                  <a:lnTo>
                    <a:pt x="0" y="7870556"/>
                  </a:lnTo>
                </a:path>
              </a:pathLst>
            </a:custGeom>
            <a:solidFill>
              <a:srgbClr val="6E79E4"/>
            </a:solidFill>
          </p:spPr>
        </p:sp>
        <p:sp>
          <p:nvSpPr>
            <p:cNvPr name="Freeform 10" id="10"/>
            <p:cNvSpPr/>
            <p:nvPr/>
          </p:nvSpPr>
          <p:spPr>
            <a:xfrm flipH="false" flipV="false" rot="0">
              <a:off x="493466" y="0"/>
              <a:ext cx="78515398" cy="8125732"/>
            </a:xfrm>
            <a:custGeom>
              <a:avLst/>
              <a:gdLst/>
              <a:ahLst/>
              <a:cxnLst/>
              <a:rect r="r" b="b" t="t" l="l"/>
              <a:pathLst>
                <a:path h="8125732" w="78515398">
                  <a:moveTo>
                    <a:pt x="0" y="0"/>
                  </a:moveTo>
                  <a:lnTo>
                    <a:pt x="78021934" y="0"/>
                  </a:lnTo>
                  <a:cubicBezTo>
                    <a:pt x="78293340" y="0"/>
                    <a:pt x="78515398" y="57431"/>
                    <a:pt x="78515398" y="127624"/>
                  </a:cubicBezTo>
                  <a:lnTo>
                    <a:pt x="78515398" y="7998180"/>
                  </a:lnTo>
                  <a:cubicBezTo>
                    <a:pt x="78515398" y="8068373"/>
                    <a:pt x="78293340" y="8125732"/>
                    <a:pt x="78021934" y="8125732"/>
                  </a:cubicBezTo>
                  <a:lnTo>
                    <a:pt x="0" y="8125732"/>
                  </a:lnTo>
                  <a:lnTo>
                    <a:pt x="0" y="7870557"/>
                  </a:lnTo>
                  <a:lnTo>
                    <a:pt x="78021934" y="7870557"/>
                  </a:lnTo>
                  <a:lnTo>
                    <a:pt x="78021934" y="7998180"/>
                  </a:lnTo>
                  <a:lnTo>
                    <a:pt x="77528469" y="7998180"/>
                  </a:lnTo>
                  <a:lnTo>
                    <a:pt x="77528469" y="127624"/>
                  </a:lnTo>
                  <a:lnTo>
                    <a:pt x="78021934" y="127624"/>
                  </a:lnTo>
                  <a:lnTo>
                    <a:pt x="78021934" y="255248"/>
                  </a:lnTo>
                  <a:lnTo>
                    <a:pt x="0" y="255248"/>
                  </a:lnTo>
                  <a:close/>
                </a:path>
              </a:pathLst>
            </a:custGeom>
            <a:solidFill>
              <a:srgbClr val="191919"/>
            </a:solidFill>
          </p:spPr>
        </p:sp>
      </p:grpSp>
      <p:grpSp>
        <p:nvGrpSpPr>
          <p:cNvPr name="Group 11" id="11"/>
          <p:cNvGrpSpPr/>
          <p:nvPr/>
        </p:nvGrpSpPr>
        <p:grpSpPr>
          <a:xfrm rot="0">
            <a:off x="348915" y="388226"/>
            <a:ext cx="9063766" cy="803829"/>
            <a:chOff x="0" y="0"/>
            <a:chExt cx="79008982" cy="7006992"/>
          </a:xfrm>
        </p:grpSpPr>
        <p:sp>
          <p:nvSpPr>
            <p:cNvPr name="Freeform 12" id="12"/>
            <p:cNvSpPr/>
            <p:nvPr/>
          </p:nvSpPr>
          <p:spPr>
            <a:xfrm flipH="false" flipV="false" rot="0">
              <a:off x="493466" y="110053"/>
              <a:ext cx="78021934" cy="6786964"/>
            </a:xfrm>
            <a:custGeom>
              <a:avLst/>
              <a:gdLst/>
              <a:ahLst/>
              <a:cxnLst/>
              <a:rect r="r" b="b" t="t" l="l"/>
              <a:pathLst>
                <a:path h="6786964" w="78021934">
                  <a:moveTo>
                    <a:pt x="0" y="0"/>
                  </a:moveTo>
                  <a:lnTo>
                    <a:pt x="78021934" y="0"/>
                  </a:lnTo>
                  <a:lnTo>
                    <a:pt x="78021934" y="6786964"/>
                  </a:lnTo>
                  <a:lnTo>
                    <a:pt x="0" y="6786964"/>
                  </a:lnTo>
                </a:path>
              </a:pathLst>
            </a:custGeom>
            <a:solidFill>
              <a:srgbClr val="6E79E4"/>
            </a:solidFill>
          </p:spPr>
        </p:sp>
        <p:sp>
          <p:nvSpPr>
            <p:cNvPr name="Freeform 13" id="13"/>
            <p:cNvSpPr/>
            <p:nvPr/>
          </p:nvSpPr>
          <p:spPr>
            <a:xfrm flipH="false" flipV="false" rot="0">
              <a:off x="493466" y="0"/>
              <a:ext cx="78515398" cy="7007010"/>
            </a:xfrm>
            <a:custGeom>
              <a:avLst/>
              <a:gdLst/>
              <a:ahLst/>
              <a:cxnLst/>
              <a:rect r="r" b="b" t="t" l="l"/>
              <a:pathLst>
                <a:path h="7007010" w="78515398">
                  <a:moveTo>
                    <a:pt x="0" y="0"/>
                  </a:moveTo>
                  <a:lnTo>
                    <a:pt x="78021934" y="0"/>
                  </a:lnTo>
                  <a:cubicBezTo>
                    <a:pt x="78293340" y="0"/>
                    <a:pt x="78515398" y="49524"/>
                    <a:pt x="78515398" y="110053"/>
                  </a:cubicBezTo>
                  <a:lnTo>
                    <a:pt x="78515398" y="6897017"/>
                  </a:lnTo>
                  <a:cubicBezTo>
                    <a:pt x="78515398" y="6957546"/>
                    <a:pt x="78293340" y="7007010"/>
                    <a:pt x="78021934" y="7007010"/>
                  </a:cubicBezTo>
                  <a:lnTo>
                    <a:pt x="0" y="7007010"/>
                  </a:lnTo>
                  <a:lnTo>
                    <a:pt x="0" y="6786964"/>
                  </a:lnTo>
                  <a:lnTo>
                    <a:pt x="78021934" y="6786964"/>
                  </a:lnTo>
                  <a:lnTo>
                    <a:pt x="78021934" y="6897017"/>
                  </a:lnTo>
                  <a:lnTo>
                    <a:pt x="77528469" y="6897017"/>
                  </a:lnTo>
                  <a:lnTo>
                    <a:pt x="77528469" y="110053"/>
                  </a:lnTo>
                  <a:lnTo>
                    <a:pt x="78021934" y="110053"/>
                  </a:lnTo>
                  <a:lnTo>
                    <a:pt x="78021934" y="220106"/>
                  </a:lnTo>
                  <a:lnTo>
                    <a:pt x="0" y="220106"/>
                  </a:lnTo>
                  <a:close/>
                </a:path>
              </a:pathLst>
            </a:custGeom>
            <a:solidFill>
              <a:srgbClr val="191919"/>
            </a:solidFill>
          </p:spPr>
        </p:sp>
      </p:grpSp>
      <p:sp>
        <p:nvSpPr>
          <p:cNvPr name="TextBox 14" id="14"/>
          <p:cNvSpPr txBox="true"/>
          <p:nvPr/>
        </p:nvSpPr>
        <p:spPr>
          <a:xfrm rot="0">
            <a:off x="-60135" y="463531"/>
            <a:ext cx="9204135" cy="1168437"/>
          </a:xfrm>
          <a:prstGeom prst="rect">
            <a:avLst/>
          </a:prstGeom>
        </p:spPr>
        <p:txBody>
          <a:bodyPr anchor="t" rtlCol="false" tIns="0" lIns="0" bIns="0" rIns="0">
            <a:spAutoFit/>
          </a:bodyPr>
          <a:lstStyle/>
          <a:p>
            <a:pPr algn="ctr">
              <a:lnSpc>
                <a:spcPts val="4502"/>
              </a:lnSpc>
              <a:spcBef>
                <a:spcPct val="0"/>
              </a:spcBef>
            </a:pPr>
            <a:r>
              <a:rPr lang="en-US" sz="4169">
                <a:solidFill>
                  <a:srgbClr val="000000"/>
                </a:solidFill>
                <a:latin typeface="Bebas Neue"/>
                <a:ea typeface="Bebas Neue"/>
                <a:cs typeface="Bebas Neue"/>
                <a:sym typeface="Bebas Neue"/>
              </a:rPr>
              <a:t>4</a:t>
            </a:r>
            <a:r>
              <a:rPr lang="en-US" sz="4169">
                <a:solidFill>
                  <a:srgbClr val="000000"/>
                </a:solidFill>
                <a:latin typeface="Bebas Neue"/>
                <a:ea typeface="Bebas Neue"/>
                <a:cs typeface="Bebas Neue"/>
                <a:sym typeface="Bebas Neue"/>
              </a:rPr>
              <a:t>. Pointer Smoothing and Motion Interpolation</a:t>
            </a:r>
          </a:p>
          <a:p>
            <a:pPr algn="ctr">
              <a:lnSpc>
                <a:spcPts val="4502"/>
              </a:lnSpc>
              <a:spcBef>
                <a:spcPct val="0"/>
              </a:spcBef>
            </a:pPr>
          </a:p>
        </p:txBody>
      </p:sp>
      <p:sp>
        <p:nvSpPr>
          <p:cNvPr name="TextBox 15" id="15"/>
          <p:cNvSpPr txBox="true"/>
          <p:nvPr/>
        </p:nvSpPr>
        <p:spPr>
          <a:xfrm rot="0">
            <a:off x="-861128" y="3988164"/>
            <a:ext cx="8795085" cy="1155336"/>
          </a:xfrm>
          <a:prstGeom prst="rect">
            <a:avLst/>
          </a:prstGeom>
        </p:spPr>
        <p:txBody>
          <a:bodyPr anchor="t" rtlCol="false" tIns="0" lIns="0" bIns="0" rIns="0">
            <a:spAutoFit/>
          </a:bodyPr>
          <a:lstStyle/>
          <a:p>
            <a:pPr algn="ctr">
              <a:lnSpc>
                <a:spcPts val="4496"/>
              </a:lnSpc>
              <a:spcBef>
                <a:spcPct val="0"/>
              </a:spcBef>
            </a:pPr>
            <a:r>
              <a:rPr lang="en-US" sz="4163">
                <a:solidFill>
                  <a:srgbClr val="000000"/>
                </a:solidFill>
                <a:latin typeface="Bebas Neue"/>
                <a:ea typeface="Bebas Neue"/>
                <a:cs typeface="Bebas Neue"/>
                <a:sym typeface="Bebas Neue"/>
              </a:rPr>
              <a:t>5</a:t>
            </a:r>
            <a:r>
              <a:rPr lang="en-US" sz="4163">
                <a:solidFill>
                  <a:srgbClr val="000000"/>
                </a:solidFill>
                <a:latin typeface="Bebas Neue"/>
                <a:ea typeface="Bebas Neue"/>
                <a:cs typeface="Bebas Neue"/>
                <a:sym typeface="Bebas Neue"/>
              </a:rPr>
              <a:t>. Slide Loading and Management</a:t>
            </a:r>
          </a:p>
          <a:p>
            <a:pPr algn="ctr">
              <a:lnSpc>
                <a:spcPts val="4496"/>
              </a:lnSpc>
              <a:spcBef>
                <a:spcPct val="0"/>
              </a:spcBef>
            </a:pPr>
          </a:p>
        </p:txBody>
      </p:sp>
      <p:sp>
        <p:nvSpPr>
          <p:cNvPr name="TextBox 16" id="16"/>
          <p:cNvSpPr txBox="true"/>
          <p:nvPr/>
        </p:nvSpPr>
        <p:spPr>
          <a:xfrm rot="0">
            <a:off x="-1289074" y="7152305"/>
            <a:ext cx="7676348" cy="1168451"/>
          </a:xfrm>
          <a:prstGeom prst="rect">
            <a:avLst/>
          </a:prstGeom>
        </p:spPr>
        <p:txBody>
          <a:bodyPr anchor="t" rtlCol="false" tIns="0" lIns="0" bIns="0" rIns="0">
            <a:spAutoFit/>
          </a:bodyPr>
          <a:lstStyle/>
          <a:p>
            <a:pPr algn="ctr">
              <a:lnSpc>
                <a:spcPts val="4503"/>
              </a:lnSpc>
              <a:spcBef>
                <a:spcPct val="0"/>
              </a:spcBef>
            </a:pPr>
            <a:r>
              <a:rPr lang="en-US" sz="4170">
                <a:solidFill>
                  <a:srgbClr val="000000"/>
                </a:solidFill>
                <a:latin typeface="Bebas Neue"/>
                <a:ea typeface="Bebas Neue"/>
                <a:cs typeface="Bebas Neue"/>
                <a:sym typeface="Bebas Neue"/>
              </a:rPr>
              <a:t>6</a:t>
            </a:r>
            <a:r>
              <a:rPr lang="en-US" sz="4170">
                <a:solidFill>
                  <a:srgbClr val="000000"/>
                </a:solidFill>
                <a:latin typeface="Bebas Neue"/>
                <a:ea typeface="Bebas Neue"/>
                <a:cs typeface="Bebas Neue"/>
                <a:sym typeface="Bebas Neue"/>
              </a:rPr>
              <a:t>. Output Visualization</a:t>
            </a:r>
          </a:p>
          <a:p>
            <a:pPr algn="ctr">
              <a:lnSpc>
                <a:spcPts val="4503"/>
              </a:lnSpc>
              <a:spcBef>
                <a:spcPct val="0"/>
              </a:spcBef>
            </a:pPr>
          </a:p>
        </p:txBody>
      </p:sp>
      <p:sp>
        <p:nvSpPr>
          <p:cNvPr name="TextBox 17" id="17"/>
          <p:cNvSpPr txBox="true"/>
          <p:nvPr/>
        </p:nvSpPr>
        <p:spPr>
          <a:xfrm rot="0">
            <a:off x="366705" y="8181990"/>
            <a:ext cx="15564717" cy="1284960"/>
          </a:xfrm>
          <a:prstGeom prst="rect">
            <a:avLst/>
          </a:prstGeom>
        </p:spPr>
        <p:txBody>
          <a:bodyPr anchor="t" rtlCol="false" tIns="0" lIns="0" bIns="0" rIns="0">
            <a:spAutoFit/>
          </a:bodyPr>
          <a:lstStyle/>
          <a:p>
            <a:pPr algn="l" marL="661721" indent="-330861" lvl="1">
              <a:lnSpc>
                <a:spcPts val="3310"/>
              </a:lnSpc>
              <a:buFont typeface="Arial"/>
              <a:buChar char="•"/>
            </a:pPr>
            <a:r>
              <a:rPr lang="en-US" sz="3064">
                <a:solidFill>
                  <a:srgbClr val="000000"/>
                </a:solidFill>
                <a:latin typeface="Raleway"/>
                <a:ea typeface="Raleway"/>
                <a:cs typeface="Raleway"/>
                <a:sym typeface="Raleway"/>
              </a:rPr>
              <a:t>Th</a:t>
            </a:r>
            <a:r>
              <a:rPr lang="en-US" sz="3064">
                <a:solidFill>
                  <a:srgbClr val="000000"/>
                </a:solidFill>
                <a:latin typeface="Raleway"/>
                <a:ea typeface="Raleway"/>
                <a:cs typeface="Raleway"/>
                <a:sym typeface="Raleway"/>
              </a:rPr>
              <a:t>e live webcam feed is resized and embedded into the top-right corner of the active presentation slide.</a:t>
            </a:r>
          </a:p>
          <a:p>
            <a:pPr algn="l" marL="661721" indent="-330861" lvl="1">
              <a:lnSpc>
                <a:spcPts val="3310"/>
              </a:lnSpc>
              <a:buFont typeface="Arial"/>
              <a:buChar char="•"/>
            </a:pPr>
            <a:r>
              <a:rPr lang="en-US" sz="3064">
                <a:solidFill>
                  <a:srgbClr val="000000"/>
                </a:solidFill>
                <a:latin typeface="Raleway"/>
                <a:ea typeface="Raleway"/>
                <a:cs typeface="Raleway"/>
                <a:sym typeface="Raleway"/>
              </a:rPr>
              <a:t>The final output combines both windows, providing a real-time interactive view.</a:t>
            </a:r>
          </a:p>
        </p:txBody>
      </p:sp>
      <p:sp>
        <p:nvSpPr>
          <p:cNvPr name="TextBox 18" id="18"/>
          <p:cNvSpPr txBox="true"/>
          <p:nvPr/>
        </p:nvSpPr>
        <p:spPr>
          <a:xfrm rot="0">
            <a:off x="366705" y="4867942"/>
            <a:ext cx="16270828" cy="1750923"/>
          </a:xfrm>
          <a:prstGeom prst="rect">
            <a:avLst/>
          </a:prstGeom>
        </p:spPr>
        <p:txBody>
          <a:bodyPr anchor="t" rtlCol="false" tIns="0" lIns="0" bIns="0" rIns="0">
            <a:spAutoFit/>
          </a:bodyPr>
          <a:lstStyle/>
          <a:p>
            <a:pPr algn="l">
              <a:lnSpc>
                <a:spcPts val="1906"/>
              </a:lnSpc>
              <a:spcBef>
                <a:spcPct val="0"/>
              </a:spcBef>
            </a:pPr>
          </a:p>
          <a:p>
            <a:pPr algn="l" marL="661721" indent="-330861" lvl="1">
              <a:lnSpc>
                <a:spcPts val="3310"/>
              </a:lnSpc>
              <a:buFont typeface="Arial"/>
              <a:buChar char="•"/>
            </a:pPr>
            <a:r>
              <a:rPr lang="en-US" sz="3064">
                <a:solidFill>
                  <a:srgbClr val="000000"/>
                </a:solidFill>
                <a:latin typeface="Raleway"/>
                <a:ea typeface="Raleway"/>
                <a:cs typeface="Raleway"/>
                <a:sym typeface="Raleway"/>
              </a:rPr>
              <a:t>Slid</a:t>
            </a:r>
            <a:r>
              <a:rPr lang="en-US" sz="3064">
                <a:solidFill>
                  <a:srgbClr val="000000"/>
                </a:solidFill>
                <a:latin typeface="Raleway"/>
                <a:ea typeface="Raleway"/>
                <a:cs typeface="Raleway"/>
                <a:sym typeface="Raleway"/>
              </a:rPr>
              <a:t>es are stored in a folder and read sequentially using os.listdir().</a:t>
            </a:r>
          </a:p>
          <a:p>
            <a:pPr algn="l" marL="661721" indent="-330861" lvl="1">
              <a:lnSpc>
                <a:spcPts val="3310"/>
              </a:lnSpc>
              <a:buFont typeface="Arial"/>
              <a:buChar char="•"/>
            </a:pPr>
            <a:r>
              <a:rPr lang="en-US" sz="3064">
                <a:solidFill>
                  <a:srgbClr val="000000"/>
                </a:solidFill>
                <a:latin typeface="Raleway"/>
                <a:ea typeface="Raleway"/>
                <a:cs typeface="Raleway"/>
                <a:sym typeface="Raleway"/>
              </a:rPr>
              <a:t>The variable imgNumber keeps track of the current slide index.</a:t>
            </a:r>
          </a:p>
          <a:p>
            <a:pPr algn="l" marL="661721" indent="-330861" lvl="1">
              <a:lnSpc>
                <a:spcPts val="3310"/>
              </a:lnSpc>
              <a:buFont typeface="Arial"/>
              <a:buChar char="•"/>
            </a:pPr>
            <a:r>
              <a:rPr lang="en-US" sz="3064">
                <a:solidFill>
                  <a:srgbClr val="000000"/>
                </a:solidFill>
                <a:latin typeface="Raleway"/>
                <a:ea typeface="Raleway"/>
                <a:cs typeface="Raleway"/>
                <a:sym typeface="Raleway"/>
              </a:rPr>
              <a:t>Annotated drawings are stored in arrays and redrawn with cv2.line() on every iteration.</a:t>
            </a:r>
          </a:p>
          <a:p>
            <a:pPr algn="l">
              <a:lnSpc>
                <a:spcPts val="1906"/>
              </a:lnSpc>
              <a:spcBef>
                <a:spcPct val="0"/>
              </a:spcBef>
            </a:pPr>
          </a:p>
        </p:txBody>
      </p:sp>
      <p:sp>
        <p:nvSpPr>
          <p:cNvPr name="TextBox 19" id="19"/>
          <p:cNvSpPr txBox="true"/>
          <p:nvPr/>
        </p:nvSpPr>
        <p:spPr>
          <a:xfrm rot="0">
            <a:off x="348915" y="1651019"/>
            <a:ext cx="17181336" cy="1704060"/>
          </a:xfrm>
          <a:prstGeom prst="rect">
            <a:avLst/>
          </a:prstGeom>
        </p:spPr>
        <p:txBody>
          <a:bodyPr anchor="t" rtlCol="false" tIns="0" lIns="0" bIns="0" rIns="0">
            <a:spAutoFit/>
          </a:bodyPr>
          <a:lstStyle/>
          <a:p>
            <a:pPr algn="l" marL="661721" indent="-330861" lvl="1">
              <a:lnSpc>
                <a:spcPts val="3310"/>
              </a:lnSpc>
              <a:buFont typeface="Arial"/>
              <a:buChar char="•"/>
            </a:pPr>
            <a:r>
              <a:rPr lang="en-US" sz="3064">
                <a:solidFill>
                  <a:srgbClr val="000000"/>
                </a:solidFill>
                <a:latin typeface="Raleway"/>
                <a:ea typeface="Raleway"/>
                <a:cs typeface="Raleway"/>
                <a:sym typeface="Raleway"/>
              </a:rPr>
              <a:t>To avoid sudden pointer jumps, the system applies a smoothing factor.</a:t>
            </a:r>
          </a:p>
          <a:p>
            <a:pPr algn="l" marL="661721" indent="-330861" lvl="1">
              <a:lnSpc>
                <a:spcPts val="3310"/>
              </a:lnSpc>
              <a:buFont typeface="Arial"/>
              <a:buChar char="•"/>
            </a:pPr>
            <a:r>
              <a:rPr lang="en-US" sz="3064">
                <a:solidFill>
                  <a:srgbClr val="000000"/>
                </a:solidFill>
                <a:latin typeface="Raleway"/>
                <a:ea typeface="Raleway"/>
                <a:cs typeface="Raleway"/>
                <a:sym typeface="Raleway"/>
              </a:rPr>
              <a:t>The current pointer location is calculated as:</a:t>
            </a:r>
          </a:p>
          <a:p>
            <a:pPr algn="l">
              <a:lnSpc>
                <a:spcPts val="3310"/>
              </a:lnSpc>
            </a:pPr>
          </a:p>
          <a:p>
            <a:pPr algn="l">
              <a:lnSpc>
                <a:spcPts val="3310"/>
              </a:lnSpc>
            </a:pPr>
            <a:r>
              <a:rPr lang="en-US" sz="3064">
                <a:solidFill>
                  <a:srgbClr val="000000"/>
                </a:solidFill>
                <a:latin typeface="Raleway"/>
                <a:ea typeface="Raleway"/>
                <a:cs typeface="Raleway"/>
                <a:sym typeface="Raleway"/>
              </a:rPr>
              <a:t>x_{new} = x_{prev} + \frac{(x_{raw} - x_{prev})}{smoothing}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6E79E4"/>
        </a:solidFill>
      </p:bgPr>
    </p:bg>
    <p:spTree>
      <p:nvGrpSpPr>
        <p:cNvPr id="1" name=""/>
        <p:cNvGrpSpPr/>
        <p:nvPr/>
      </p:nvGrpSpPr>
      <p:grpSpPr>
        <a:xfrm>
          <a:off x="0" y="0"/>
          <a:ext cx="0" cy="0"/>
          <a:chOff x="0" y="0"/>
          <a:chExt cx="0" cy="0"/>
        </a:xfrm>
      </p:grpSpPr>
      <p:sp>
        <p:nvSpPr>
          <p:cNvPr name="TextBox 2" id="2"/>
          <p:cNvSpPr txBox="true"/>
          <p:nvPr/>
        </p:nvSpPr>
        <p:spPr>
          <a:xfrm rot="0">
            <a:off x="7294741" y="-890295"/>
            <a:ext cx="3343950" cy="1932900"/>
          </a:xfrm>
          <a:prstGeom prst="rect">
            <a:avLst/>
          </a:prstGeom>
        </p:spPr>
        <p:txBody>
          <a:bodyPr anchor="t" rtlCol="false" tIns="0" lIns="0" bIns="0" rIns="0">
            <a:spAutoFit/>
          </a:bodyPr>
          <a:lstStyle/>
          <a:p>
            <a:pPr algn="l">
              <a:lnSpc>
                <a:spcPts val="17064"/>
              </a:lnSpc>
            </a:pPr>
            <a:r>
              <a:rPr lang="en-US" sz="15800">
                <a:solidFill>
                  <a:srgbClr val="FFFFFF"/>
                </a:solidFill>
                <a:latin typeface="Bebas Neue"/>
                <a:ea typeface="Bebas Neue"/>
                <a:cs typeface="Bebas Neue"/>
                <a:sym typeface="Bebas Neue"/>
              </a:rPr>
              <a:t>/(AI)</a:t>
            </a:r>
          </a:p>
        </p:txBody>
      </p:sp>
      <p:sp>
        <p:nvSpPr>
          <p:cNvPr name="AutoShape 3" id="3"/>
          <p:cNvSpPr/>
          <p:nvPr/>
        </p:nvSpPr>
        <p:spPr>
          <a:xfrm rot="5382070">
            <a:off x="-2602900" y="3624025"/>
            <a:ext cx="7305399" cy="0"/>
          </a:xfrm>
          <a:prstGeom prst="line">
            <a:avLst/>
          </a:prstGeom>
          <a:ln cap="rnd" w="19050">
            <a:solidFill>
              <a:srgbClr val="FFFFFF"/>
            </a:solidFill>
            <a:prstDash val="solid"/>
            <a:headEnd type="none" len="sm" w="sm"/>
            <a:tailEnd type="none" len="sm" w="sm"/>
          </a:ln>
        </p:spPr>
      </p:sp>
      <p:grpSp>
        <p:nvGrpSpPr>
          <p:cNvPr name="Group 4" id="4"/>
          <p:cNvGrpSpPr/>
          <p:nvPr/>
        </p:nvGrpSpPr>
        <p:grpSpPr>
          <a:xfrm rot="0">
            <a:off x="3065262" y="7819618"/>
            <a:ext cx="1996800" cy="1996800"/>
            <a:chOff x="0" y="0"/>
            <a:chExt cx="2662400" cy="2662400"/>
          </a:xfrm>
        </p:grpSpPr>
        <p:sp>
          <p:nvSpPr>
            <p:cNvPr name="Freeform 5" id="5"/>
            <p:cNvSpPr/>
            <p:nvPr/>
          </p:nvSpPr>
          <p:spPr>
            <a:xfrm flipH="false" flipV="false" rot="0">
              <a:off x="0" y="0"/>
              <a:ext cx="2662428" cy="2662428"/>
            </a:xfrm>
            <a:custGeom>
              <a:avLst/>
              <a:gdLst/>
              <a:ahLst/>
              <a:cxnLst/>
              <a:rect r="r" b="b" t="t" l="l"/>
              <a:pathLst>
                <a:path h="2662428" w="2662428">
                  <a:moveTo>
                    <a:pt x="0" y="1331214"/>
                  </a:moveTo>
                  <a:cubicBezTo>
                    <a:pt x="0" y="596011"/>
                    <a:pt x="596011" y="0"/>
                    <a:pt x="1331214" y="0"/>
                  </a:cubicBezTo>
                  <a:cubicBezTo>
                    <a:pt x="2066417" y="0"/>
                    <a:pt x="2662428" y="596011"/>
                    <a:pt x="2662428" y="1331214"/>
                  </a:cubicBezTo>
                  <a:cubicBezTo>
                    <a:pt x="2662428" y="2066417"/>
                    <a:pt x="2066417" y="2662428"/>
                    <a:pt x="1331214" y="2662428"/>
                  </a:cubicBezTo>
                  <a:cubicBezTo>
                    <a:pt x="596011" y="2662428"/>
                    <a:pt x="0" y="2066417"/>
                    <a:pt x="0" y="1331214"/>
                  </a:cubicBezTo>
                  <a:close/>
                </a:path>
              </a:pathLst>
            </a:custGeom>
            <a:solidFill>
              <a:srgbClr val="000000">
                <a:alpha val="14510"/>
              </a:srgbClr>
            </a:solidFill>
          </p:spPr>
        </p:sp>
      </p:grpSp>
      <p:grpSp>
        <p:nvGrpSpPr>
          <p:cNvPr name="Group 6" id="6"/>
          <p:cNvGrpSpPr/>
          <p:nvPr/>
        </p:nvGrpSpPr>
        <p:grpSpPr>
          <a:xfrm rot="0">
            <a:off x="4161550" y="1070000"/>
            <a:ext cx="12523200" cy="9195000"/>
            <a:chOff x="0" y="0"/>
            <a:chExt cx="16697600" cy="12260000"/>
          </a:xfrm>
        </p:grpSpPr>
        <p:sp>
          <p:nvSpPr>
            <p:cNvPr name="Freeform 7" id="7"/>
            <p:cNvSpPr/>
            <p:nvPr/>
          </p:nvSpPr>
          <p:spPr>
            <a:xfrm flipH="false" flipV="false" rot="0">
              <a:off x="0" y="0"/>
              <a:ext cx="16697579" cy="12259945"/>
            </a:xfrm>
            <a:custGeom>
              <a:avLst/>
              <a:gdLst/>
              <a:ahLst/>
              <a:cxnLst/>
              <a:rect r="r" b="b" t="t" l="l"/>
              <a:pathLst>
                <a:path h="12259945" w="16697579">
                  <a:moveTo>
                    <a:pt x="0" y="0"/>
                  </a:moveTo>
                  <a:lnTo>
                    <a:pt x="16697579" y="0"/>
                  </a:lnTo>
                  <a:lnTo>
                    <a:pt x="16697579" y="12259945"/>
                  </a:lnTo>
                  <a:lnTo>
                    <a:pt x="0" y="12259945"/>
                  </a:lnTo>
                  <a:close/>
                </a:path>
              </a:pathLst>
            </a:custGeom>
            <a:solidFill>
              <a:srgbClr val="191919"/>
            </a:solidFill>
          </p:spPr>
        </p:sp>
      </p:grpSp>
      <p:grpSp>
        <p:nvGrpSpPr>
          <p:cNvPr name="Group 8" id="8"/>
          <p:cNvGrpSpPr/>
          <p:nvPr/>
        </p:nvGrpSpPr>
        <p:grpSpPr>
          <a:xfrm rot="0">
            <a:off x="4830350" y="1664096"/>
            <a:ext cx="11160000" cy="8623200"/>
            <a:chOff x="0" y="0"/>
            <a:chExt cx="14880000" cy="11497600"/>
          </a:xfrm>
        </p:grpSpPr>
        <p:sp>
          <p:nvSpPr>
            <p:cNvPr name="Freeform 9" id="9"/>
            <p:cNvSpPr/>
            <p:nvPr/>
          </p:nvSpPr>
          <p:spPr>
            <a:xfrm flipH="false" flipV="false" rot="0">
              <a:off x="0" y="0"/>
              <a:ext cx="14879955" cy="11497564"/>
            </a:xfrm>
            <a:custGeom>
              <a:avLst/>
              <a:gdLst/>
              <a:ahLst/>
              <a:cxnLst/>
              <a:rect r="r" b="b" t="t" l="l"/>
              <a:pathLst>
                <a:path h="11497564" w="14879955">
                  <a:moveTo>
                    <a:pt x="0" y="0"/>
                  </a:moveTo>
                  <a:lnTo>
                    <a:pt x="14879955" y="0"/>
                  </a:lnTo>
                  <a:lnTo>
                    <a:pt x="14879955" y="11497564"/>
                  </a:lnTo>
                  <a:lnTo>
                    <a:pt x="0" y="11497564"/>
                  </a:lnTo>
                  <a:close/>
                </a:path>
              </a:pathLst>
            </a:custGeom>
            <a:solidFill>
              <a:srgbClr val="E7E7E7"/>
            </a:solidFill>
          </p:spPr>
        </p:sp>
      </p:grpSp>
      <p:sp>
        <p:nvSpPr>
          <p:cNvPr name="TextBox 10" id="10"/>
          <p:cNvSpPr txBox="true"/>
          <p:nvPr/>
        </p:nvSpPr>
        <p:spPr>
          <a:xfrm rot="0">
            <a:off x="5569875" y="4914300"/>
            <a:ext cx="9706950" cy="1847850"/>
          </a:xfrm>
          <a:prstGeom prst="rect">
            <a:avLst/>
          </a:prstGeom>
        </p:spPr>
        <p:txBody>
          <a:bodyPr anchor="t" rtlCol="false" tIns="0" lIns="0" bIns="0" rIns="0">
            <a:spAutoFit/>
          </a:bodyPr>
          <a:lstStyle/>
          <a:p>
            <a:pPr algn="l">
              <a:lnSpc>
                <a:spcPts val="14400"/>
              </a:lnSpc>
            </a:pPr>
            <a:r>
              <a:rPr lang="en-US" sz="12000">
                <a:solidFill>
                  <a:srgbClr val="191919"/>
                </a:solidFill>
                <a:latin typeface="Bebas Neue"/>
                <a:ea typeface="Bebas Neue"/>
                <a:cs typeface="Bebas Neue"/>
                <a:sym typeface="Bebas Neue"/>
              </a:rPr>
              <a:t>METHODOLOGY</a:t>
            </a:r>
          </a:p>
        </p:txBody>
      </p:sp>
      <p:sp>
        <p:nvSpPr>
          <p:cNvPr name="TextBox 11" id="11"/>
          <p:cNvSpPr txBox="true"/>
          <p:nvPr/>
        </p:nvSpPr>
        <p:spPr>
          <a:xfrm rot="0">
            <a:off x="5564975" y="2770709"/>
            <a:ext cx="3582750" cy="1519800"/>
          </a:xfrm>
          <a:prstGeom prst="rect">
            <a:avLst/>
          </a:prstGeom>
        </p:spPr>
        <p:txBody>
          <a:bodyPr anchor="t" rtlCol="false" tIns="0" lIns="0" bIns="0" rIns="0">
            <a:spAutoFit/>
          </a:bodyPr>
          <a:lstStyle/>
          <a:p>
            <a:pPr algn="l">
              <a:lnSpc>
                <a:spcPts val="14400"/>
              </a:lnSpc>
            </a:pPr>
            <a:r>
              <a:rPr lang="en-US" sz="12000">
                <a:solidFill>
                  <a:srgbClr val="191919"/>
                </a:solidFill>
                <a:latin typeface="Bebas Neue"/>
                <a:ea typeface="Bebas Neue"/>
                <a:cs typeface="Bebas Neue"/>
                <a:sym typeface="Bebas Neue"/>
              </a:rPr>
              <a:t>03.</a:t>
            </a:r>
          </a:p>
        </p:txBody>
      </p:sp>
      <p:sp>
        <p:nvSpPr>
          <p:cNvPr name="AutoShape 12" id="12"/>
          <p:cNvSpPr/>
          <p:nvPr/>
        </p:nvSpPr>
        <p:spPr>
          <a:xfrm rot="10777833">
            <a:off x="5637985" y="8808459"/>
            <a:ext cx="11026729" cy="0"/>
          </a:xfrm>
          <a:prstGeom prst="line">
            <a:avLst/>
          </a:prstGeom>
          <a:ln cap="rnd" w="19050">
            <a:solidFill>
              <a:srgbClr val="191919"/>
            </a:solidFill>
            <a:prstDash val="solid"/>
            <a:headEnd type="none" len="sm" w="sm"/>
            <a:tailEnd type="none" len="sm" w="sm"/>
          </a:ln>
        </p:spPr>
      </p:sp>
      <p:sp>
        <p:nvSpPr>
          <p:cNvPr name="Freeform 13" id="13"/>
          <p:cNvSpPr/>
          <p:nvPr/>
        </p:nvSpPr>
        <p:spPr>
          <a:xfrm flipH="false" flipV="false" rot="0">
            <a:off x="15763632" y="3023010"/>
            <a:ext cx="392602" cy="1545210"/>
          </a:xfrm>
          <a:custGeom>
            <a:avLst/>
            <a:gdLst/>
            <a:ahLst/>
            <a:cxnLst/>
            <a:rect r="r" b="b" t="t" l="l"/>
            <a:pathLst>
              <a:path h="1545210" w="392602">
                <a:moveTo>
                  <a:pt x="0" y="0"/>
                </a:moveTo>
                <a:lnTo>
                  <a:pt x="392602" y="0"/>
                </a:lnTo>
                <a:lnTo>
                  <a:pt x="392602" y="1545210"/>
                </a:lnTo>
                <a:lnTo>
                  <a:pt x="0" y="15452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515651" y="397733"/>
            <a:ext cx="374550" cy="6795700"/>
          </a:xfrm>
          <a:custGeom>
            <a:avLst/>
            <a:gdLst/>
            <a:ahLst/>
            <a:cxnLst/>
            <a:rect r="r" b="b" t="t" l="l"/>
            <a:pathLst>
              <a:path h="6795700" w="374550">
                <a:moveTo>
                  <a:pt x="0" y="0"/>
                </a:moveTo>
                <a:lnTo>
                  <a:pt x="374550" y="0"/>
                </a:lnTo>
                <a:lnTo>
                  <a:pt x="374550" y="6795700"/>
                </a:lnTo>
                <a:lnTo>
                  <a:pt x="0" y="67957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5" id="15"/>
          <p:cNvSpPr/>
          <p:nvPr/>
        </p:nvSpPr>
        <p:spPr>
          <a:xfrm rot="5382070">
            <a:off x="-2602900" y="3624025"/>
            <a:ext cx="7305399" cy="0"/>
          </a:xfrm>
          <a:prstGeom prst="line">
            <a:avLst/>
          </a:prstGeom>
          <a:ln cap="rnd" w="19050">
            <a:solidFill>
              <a:srgbClr val="FFFFFF"/>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5400000">
            <a:off x="-2542300" y="4632916"/>
            <a:ext cx="7182150" cy="1932900"/>
          </a:xfrm>
          <a:prstGeom prst="rect">
            <a:avLst/>
          </a:prstGeom>
        </p:spPr>
        <p:txBody>
          <a:bodyPr anchor="t" rtlCol="false" tIns="0" lIns="0" bIns="0" rIns="0">
            <a:spAutoFit/>
          </a:bodyPr>
          <a:lstStyle/>
          <a:p>
            <a:pPr algn="l">
              <a:lnSpc>
                <a:spcPts val="17064"/>
              </a:lnSpc>
            </a:pPr>
            <a:r>
              <a:rPr lang="en-US" sz="15800">
                <a:solidFill>
                  <a:srgbClr val="5C64B8"/>
                </a:solidFill>
                <a:latin typeface="Bebas Neue"/>
                <a:ea typeface="Bebas Neue"/>
                <a:cs typeface="Bebas Neue"/>
                <a:sym typeface="Bebas Neue"/>
              </a:rPr>
              <a:t>/(AI)/(AI)/</a:t>
            </a:r>
          </a:p>
        </p:txBody>
      </p:sp>
      <p:sp>
        <p:nvSpPr>
          <p:cNvPr name="TextBox 3" id="3"/>
          <p:cNvSpPr txBox="true"/>
          <p:nvPr/>
        </p:nvSpPr>
        <p:spPr>
          <a:xfrm rot="5400000">
            <a:off x="13544050" y="4937716"/>
            <a:ext cx="7182150" cy="1932900"/>
          </a:xfrm>
          <a:prstGeom prst="rect">
            <a:avLst/>
          </a:prstGeom>
        </p:spPr>
        <p:txBody>
          <a:bodyPr anchor="t" rtlCol="false" tIns="0" lIns="0" bIns="0" rIns="0">
            <a:spAutoFit/>
          </a:bodyPr>
          <a:lstStyle/>
          <a:p>
            <a:pPr algn="l">
              <a:lnSpc>
                <a:spcPts val="17064"/>
              </a:lnSpc>
            </a:pPr>
            <a:r>
              <a:rPr lang="en-US" sz="15800">
                <a:solidFill>
                  <a:srgbClr val="5C64B8"/>
                </a:solidFill>
                <a:latin typeface="Bebas Neue"/>
                <a:ea typeface="Bebas Neue"/>
                <a:cs typeface="Bebas Neue"/>
                <a:sym typeface="Bebas Neue"/>
              </a:rPr>
              <a:t>/(AI)/(AI)/</a:t>
            </a:r>
          </a:p>
        </p:txBody>
      </p:sp>
      <p:grpSp>
        <p:nvGrpSpPr>
          <p:cNvPr name="Group 4" id="4"/>
          <p:cNvGrpSpPr/>
          <p:nvPr/>
        </p:nvGrpSpPr>
        <p:grpSpPr>
          <a:xfrm rot="0">
            <a:off x="6211761" y="534065"/>
            <a:ext cx="5321725" cy="9352076"/>
            <a:chOff x="0" y="0"/>
            <a:chExt cx="7095633" cy="12469434"/>
          </a:xfrm>
        </p:grpSpPr>
        <p:sp>
          <p:nvSpPr>
            <p:cNvPr name="Freeform 5" id="5"/>
            <p:cNvSpPr/>
            <p:nvPr/>
          </p:nvSpPr>
          <p:spPr>
            <a:xfrm flipH="false" flipV="false" rot="0">
              <a:off x="0" y="0"/>
              <a:ext cx="7095634" cy="12469483"/>
            </a:xfrm>
            <a:custGeom>
              <a:avLst/>
              <a:gdLst/>
              <a:ahLst/>
              <a:cxnLst/>
              <a:rect r="r" b="b" t="t" l="l"/>
              <a:pathLst>
                <a:path h="12469483" w="7095634">
                  <a:moveTo>
                    <a:pt x="0" y="0"/>
                  </a:moveTo>
                  <a:lnTo>
                    <a:pt x="7095634" y="0"/>
                  </a:lnTo>
                  <a:lnTo>
                    <a:pt x="7095634" y="12469483"/>
                  </a:lnTo>
                  <a:lnTo>
                    <a:pt x="0" y="12469483"/>
                  </a:lnTo>
                  <a:close/>
                </a:path>
              </a:pathLst>
            </a:custGeom>
            <a:solidFill>
              <a:srgbClr val="E7E7E7"/>
            </a:solidFill>
          </p:spPr>
        </p:sp>
      </p:grpSp>
      <p:grpSp>
        <p:nvGrpSpPr>
          <p:cNvPr name="Group 6" id="6"/>
          <p:cNvGrpSpPr/>
          <p:nvPr/>
        </p:nvGrpSpPr>
        <p:grpSpPr>
          <a:xfrm rot="0">
            <a:off x="12152611" y="534065"/>
            <a:ext cx="5694764" cy="9352076"/>
            <a:chOff x="0" y="0"/>
            <a:chExt cx="7593018" cy="12469434"/>
          </a:xfrm>
        </p:grpSpPr>
        <p:sp>
          <p:nvSpPr>
            <p:cNvPr name="Freeform 7" id="7"/>
            <p:cNvSpPr/>
            <p:nvPr/>
          </p:nvSpPr>
          <p:spPr>
            <a:xfrm flipH="false" flipV="false" rot="0">
              <a:off x="0" y="0"/>
              <a:ext cx="7593018" cy="12469483"/>
            </a:xfrm>
            <a:custGeom>
              <a:avLst/>
              <a:gdLst/>
              <a:ahLst/>
              <a:cxnLst/>
              <a:rect r="r" b="b" t="t" l="l"/>
              <a:pathLst>
                <a:path h="12469483" w="7593018">
                  <a:moveTo>
                    <a:pt x="0" y="0"/>
                  </a:moveTo>
                  <a:lnTo>
                    <a:pt x="7593018" y="0"/>
                  </a:lnTo>
                  <a:lnTo>
                    <a:pt x="7593018" y="12469483"/>
                  </a:lnTo>
                  <a:lnTo>
                    <a:pt x="0" y="12469483"/>
                  </a:lnTo>
                  <a:close/>
                </a:path>
              </a:pathLst>
            </a:custGeom>
            <a:solidFill>
              <a:srgbClr val="E7E7E7"/>
            </a:solidFill>
          </p:spPr>
        </p:sp>
      </p:grpSp>
      <p:grpSp>
        <p:nvGrpSpPr>
          <p:cNvPr name="Group 8" id="8"/>
          <p:cNvGrpSpPr/>
          <p:nvPr/>
        </p:nvGrpSpPr>
        <p:grpSpPr>
          <a:xfrm rot="0">
            <a:off x="285050" y="534065"/>
            <a:ext cx="5308451" cy="9352076"/>
            <a:chOff x="0" y="0"/>
            <a:chExt cx="7077935" cy="12469434"/>
          </a:xfrm>
        </p:grpSpPr>
        <p:sp>
          <p:nvSpPr>
            <p:cNvPr name="Freeform 9" id="9"/>
            <p:cNvSpPr/>
            <p:nvPr/>
          </p:nvSpPr>
          <p:spPr>
            <a:xfrm flipH="false" flipV="false" rot="0">
              <a:off x="0" y="0"/>
              <a:ext cx="7077935" cy="12469483"/>
            </a:xfrm>
            <a:custGeom>
              <a:avLst/>
              <a:gdLst/>
              <a:ahLst/>
              <a:cxnLst/>
              <a:rect r="r" b="b" t="t" l="l"/>
              <a:pathLst>
                <a:path h="12469483" w="7077935">
                  <a:moveTo>
                    <a:pt x="0" y="0"/>
                  </a:moveTo>
                  <a:lnTo>
                    <a:pt x="7077935" y="0"/>
                  </a:lnTo>
                  <a:lnTo>
                    <a:pt x="7077935" y="12469483"/>
                  </a:lnTo>
                  <a:lnTo>
                    <a:pt x="0" y="12469483"/>
                  </a:lnTo>
                  <a:close/>
                </a:path>
              </a:pathLst>
            </a:custGeom>
            <a:solidFill>
              <a:srgbClr val="E7E7E7"/>
            </a:solidFill>
          </p:spPr>
        </p:sp>
      </p:grpSp>
      <p:sp>
        <p:nvSpPr>
          <p:cNvPr name="TextBox 10" id="10"/>
          <p:cNvSpPr txBox="true"/>
          <p:nvPr/>
        </p:nvSpPr>
        <p:spPr>
          <a:xfrm rot="0">
            <a:off x="285050" y="750991"/>
            <a:ext cx="5029200" cy="2886075"/>
          </a:xfrm>
          <a:prstGeom prst="rect">
            <a:avLst/>
          </a:prstGeom>
        </p:spPr>
        <p:txBody>
          <a:bodyPr anchor="t" rtlCol="false" tIns="0" lIns="0" bIns="0" rIns="0">
            <a:spAutoFit/>
          </a:bodyPr>
          <a:lstStyle/>
          <a:p>
            <a:pPr algn="ctr">
              <a:lnSpc>
                <a:spcPts val="5128"/>
              </a:lnSpc>
            </a:pPr>
            <a:r>
              <a:rPr lang="en-US" b="true" sz="4273">
                <a:solidFill>
                  <a:srgbClr val="3C3C3B"/>
                </a:solidFill>
                <a:latin typeface="Bebas Neue Bold"/>
                <a:ea typeface="Bebas Neue Bold"/>
                <a:cs typeface="Bebas Neue Bold"/>
                <a:sym typeface="Bebas Neue Bold"/>
              </a:rPr>
              <a:t>1. Develo</a:t>
            </a:r>
            <a:r>
              <a:rPr lang="en-US" b="true" sz="4273">
                <a:solidFill>
                  <a:srgbClr val="3C3C3B"/>
                </a:solidFill>
                <a:latin typeface="Bebas Neue Bold"/>
                <a:ea typeface="Bebas Neue Bold"/>
                <a:cs typeface="Bebas Neue Bold"/>
                <a:sym typeface="Bebas Neue Bold"/>
              </a:rPr>
              <a:t>p a Real-Time Gesture Recognition System</a:t>
            </a:r>
          </a:p>
          <a:p>
            <a:pPr algn="ctr">
              <a:lnSpc>
                <a:spcPts val="3688"/>
              </a:lnSpc>
            </a:pPr>
          </a:p>
          <a:p>
            <a:pPr algn="ctr">
              <a:lnSpc>
                <a:spcPts val="3688"/>
              </a:lnSpc>
            </a:pPr>
          </a:p>
        </p:txBody>
      </p:sp>
      <p:sp>
        <p:nvSpPr>
          <p:cNvPr name="TextBox 11" id="11"/>
          <p:cNvSpPr txBox="true"/>
          <p:nvPr/>
        </p:nvSpPr>
        <p:spPr>
          <a:xfrm rot="0">
            <a:off x="6614849" y="739561"/>
            <a:ext cx="4515549" cy="2623185"/>
          </a:xfrm>
          <a:prstGeom prst="rect">
            <a:avLst/>
          </a:prstGeom>
        </p:spPr>
        <p:txBody>
          <a:bodyPr anchor="t" rtlCol="false" tIns="0" lIns="0" bIns="0" rIns="0">
            <a:spAutoFit/>
          </a:bodyPr>
          <a:lstStyle/>
          <a:p>
            <a:pPr algn="ctr">
              <a:lnSpc>
                <a:spcPts val="5123"/>
              </a:lnSpc>
            </a:pPr>
            <a:r>
              <a:rPr lang="en-US" b="true" sz="4269">
                <a:solidFill>
                  <a:srgbClr val="3C3C3B"/>
                </a:solidFill>
                <a:latin typeface="Bebas Neue Bold"/>
                <a:ea typeface="Bebas Neue Bold"/>
                <a:cs typeface="Bebas Neue Bold"/>
                <a:sym typeface="Bebas Neue Bold"/>
              </a:rPr>
              <a:t>2. Implemen</a:t>
            </a:r>
            <a:r>
              <a:rPr lang="en-US" b="true" sz="4269">
                <a:solidFill>
                  <a:srgbClr val="3C3C3B"/>
                </a:solidFill>
                <a:latin typeface="Bebas Neue Bold"/>
                <a:ea typeface="Bebas Neue Bold"/>
                <a:cs typeface="Bebas Neue Bold"/>
                <a:sym typeface="Bebas Neue Bold"/>
              </a:rPr>
              <a:t>t Accurate Hand and Finger Detection</a:t>
            </a:r>
          </a:p>
          <a:p>
            <a:pPr algn="ctr">
              <a:lnSpc>
                <a:spcPts val="5123"/>
              </a:lnSpc>
            </a:pPr>
          </a:p>
        </p:txBody>
      </p:sp>
      <p:sp>
        <p:nvSpPr>
          <p:cNvPr name="TextBox 12" id="12"/>
          <p:cNvSpPr txBox="true"/>
          <p:nvPr/>
        </p:nvSpPr>
        <p:spPr>
          <a:xfrm rot="0">
            <a:off x="12152611" y="2867025"/>
            <a:ext cx="5447968" cy="6915150"/>
          </a:xfrm>
          <a:prstGeom prst="rect">
            <a:avLst/>
          </a:prstGeom>
        </p:spPr>
        <p:txBody>
          <a:bodyPr anchor="t" rtlCol="false" tIns="0" lIns="0" bIns="0" rIns="0">
            <a:spAutoFit/>
          </a:bodyPr>
          <a:lstStyle/>
          <a:p>
            <a:pPr algn="l" marL="631933" indent="-315967" lvl="1">
              <a:lnSpc>
                <a:spcPts val="3512"/>
              </a:lnSpc>
              <a:buFont typeface="Arial"/>
              <a:buChar char="•"/>
            </a:pPr>
            <a:r>
              <a:rPr lang="en-US" b="true" sz="2926">
                <a:solidFill>
                  <a:srgbClr val="3C3C3B"/>
                </a:solidFill>
                <a:latin typeface="Raleway Medium"/>
                <a:ea typeface="Raleway Medium"/>
                <a:cs typeface="Raleway Medium"/>
                <a:sym typeface="Raleway Medium"/>
              </a:rPr>
              <a:t>Define a s</a:t>
            </a:r>
            <a:r>
              <a:rPr lang="en-US" b="true" sz="2926">
                <a:solidFill>
                  <a:srgbClr val="3C3C3B"/>
                </a:solidFill>
                <a:latin typeface="Raleway Medium"/>
                <a:ea typeface="Raleway Medium"/>
                <a:cs typeface="Raleway Medium"/>
                <a:sym typeface="Raleway Medium"/>
              </a:rPr>
              <a:t>mall, easy-to-rememb</a:t>
            </a:r>
            <a:r>
              <a:rPr lang="en-US" b="true" sz="2926">
                <a:solidFill>
                  <a:srgbClr val="3C3C3B"/>
                </a:solidFill>
                <a:latin typeface="Raleway Medium"/>
                <a:ea typeface="Raleway Medium"/>
                <a:cs typeface="Raleway Medium"/>
                <a:sym typeface="Raleway Medium"/>
              </a:rPr>
              <a:t>er set of gestures for performing core presentation tasks such as moving to the next or previous slide, enabling the pointer, drawing annotations, or erasing drawings.</a:t>
            </a:r>
          </a:p>
          <a:p>
            <a:pPr algn="l">
              <a:lnSpc>
                <a:spcPts val="3512"/>
              </a:lnSpc>
            </a:pPr>
          </a:p>
          <a:p>
            <a:pPr algn="l" marL="631933" indent="-315967" lvl="1">
              <a:lnSpc>
                <a:spcPts val="3512"/>
              </a:lnSpc>
              <a:buFont typeface="Arial"/>
              <a:buChar char="•"/>
            </a:pPr>
            <a:r>
              <a:rPr lang="en-US" b="true" sz="2926">
                <a:solidFill>
                  <a:srgbClr val="3C3C3B"/>
                </a:solidFill>
                <a:latin typeface="Raleway Medium"/>
                <a:ea typeface="Raleway Medium"/>
                <a:cs typeface="Raleway Medium"/>
                <a:sym typeface="Raleway Medium"/>
              </a:rPr>
              <a:t>Ensure that each gesture is unique and comfortably distinguishable to prevent overlap or false recognition.</a:t>
            </a:r>
          </a:p>
          <a:p>
            <a:pPr algn="l">
              <a:lnSpc>
                <a:spcPts val="2552"/>
              </a:lnSpc>
            </a:pPr>
          </a:p>
        </p:txBody>
      </p:sp>
      <p:sp>
        <p:nvSpPr>
          <p:cNvPr name="TextBox 13" id="13"/>
          <p:cNvSpPr txBox="true"/>
          <p:nvPr/>
        </p:nvSpPr>
        <p:spPr>
          <a:xfrm rot="0">
            <a:off x="12629726" y="739561"/>
            <a:ext cx="4428150" cy="2527935"/>
          </a:xfrm>
          <a:prstGeom prst="rect">
            <a:avLst/>
          </a:prstGeom>
        </p:spPr>
        <p:txBody>
          <a:bodyPr anchor="t" rtlCol="false" tIns="0" lIns="0" bIns="0" rIns="0">
            <a:spAutoFit/>
          </a:bodyPr>
          <a:lstStyle/>
          <a:p>
            <a:pPr algn="ctr">
              <a:lnSpc>
                <a:spcPts val="5123"/>
              </a:lnSpc>
            </a:pPr>
            <a:r>
              <a:rPr lang="en-US" b="true" sz="4269">
                <a:solidFill>
                  <a:srgbClr val="3C3C3B"/>
                </a:solidFill>
                <a:latin typeface="Bebas Neue Bold"/>
                <a:ea typeface="Bebas Neue Bold"/>
                <a:cs typeface="Bebas Neue Bold"/>
                <a:sym typeface="Bebas Neue Bold"/>
              </a:rPr>
              <a:t>3. Map Recog</a:t>
            </a:r>
            <a:r>
              <a:rPr lang="en-US" b="true" sz="4269">
                <a:solidFill>
                  <a:srgbClr val="3C3C3B"/>
                </a:solidFill>
                <a:latin typeface="Bebas Neue Bold"/>
                <a:ea typeface="Bebas Neue Bold"/>
                <a:cs typeface="Bebas Neue Bold"/>
                <a:sym typeface="Bebas Neue Bold"/>
              </a:rPr>
              <a:t>nized Gestures to Presentation Controls</a:t>
            </a:r>
          </a:p>
          <a:p>
            <a:pPr algn="ctr">
              <a:lnSpc>
                <a:spcPts val="4403"/>
              </a:lnSpc>
            </a:pPr>
          </a:p>
        </p:txBody>
      </p:sp>
      <p:sp>
        <p:nvSpPr>
          <p:cNvPr name="Freeform 14" id="14"/>
          <p:cNvSpPr/>
          <p:nvPr/>
        </p:nvSpPr>
        <p:spPr>
          <a:xfrm flipH="false" flipV="false" rot="0">
            <a:off x="5011676" y="1091782"/>
            <a:ext cx="1826850" cy="741950"/>
          </a:xfrm>
          <a:custGeom>
            <a:avLst/>
            <a:gdLst/>
            <a:ahLst/>
            <a:cxnLst/>
            <a:rect r="r" b="b" t="t" l="l"/>
            <a:pathLst>
              <a:path h="741950" w="1826850">
                <a:moveTo>
                  <a:pt x="0" y="0"/>
                </a:moveTo>
                <a:lnTo>
                  <a:pt x="1826850" y="0"/>
                </a:lnTo>
                <a:lnTo>
                  <a:pt x="1826850" y="741950"/>
                </a:lnTo>
                <a:lnTo>
                  <a:pt x="0" y="741950"/>
                </a:lnTo>
                <a:lnTo>
                  <a:pt x="0" y="0"/>
                </a:lnTo>
                <a:close/>
              </a:path>
            </a:pathLst>
          </a:custGeom>
          <a:blipFill>
            <a:blip r:embed="rId3">
              <a:alphaModFix amt="24000"/>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583526" y="3257971"/>
            <a:ext cx="4428150" cy="4305300"/>
          </a:xfrm>
          <a:prstGeom prst="rect">
            <a:avLst/>
          </a:prstGeom>
        </p:spPr>
        <p:txBody>
          <a:bodyPr anchor="t" rtlCol="false" tIns="0" lIns="0" bIns="0" rIns="0">
            <a:spAutoFit/>
          </a:bodyPr>
          <a:lstStyle/>
          <a:p>
            <a:pPr algn="l" marL="697354" indent="-348677" lvl="1">
              <a:lnSpc>
                <a:spcPts val="3875"/>
              </a:lnSpc>
              <a:buFont typeface="Arial"/>
              <a:buChar char="•"/>
            </a:pPr>
            <a:r>
              <a:rPr lang="en-US" b="true" sz="3229">
                <a:solidFill>
                  <a:srgbClr val="3C3C3B"/>
                </a:solidFill>
                <a:latin typeface="Raleway Medium"/>
                <a:ea typeface="Raleway Medium"/>
                <a:cs typeface="Raleway Medium"/>
                <a:sym typeface="Raleway Medium"/>
              </a:rPr>
              <a:t>Ca</a:t>
            </a:r>
            <a:r>
              <a:rPr lang="en-US" b="true" sz="3229">
                <a:solidFill>
                  <a:srgbClr val="3C3C3B"/>
                </a:solidFill>
                <a:latin typeface="Raleway Medium"/>
                <a:ea typeface="Raleway Medium"/>
                <a:cs typeface="Raleway Medium"/>
                <a:sym typeface="Raleway Medium"/>
              </a:rPr>
              <a:t>pture live video frames from a webcam.</a:t>
            </a:r>
          </a:p>
          <a:p>
            <a:pPr algn="l">
              <a:lnSpc>
                <a:spcPts val="3875"/>
              </a:lnSpc>
            </a:pPr>
          </a:p>
          <a:p>
            <a:pPr algn="l" marL="697354" indent="-348677" lvl="1">
              <a:lnSpc>
                <a:spcPts val="3875"/>
              </a:lnSpc>
              <a:buFont typeface="Arial"/>
              <a:buChar char="•"/>
            </a:pPr>
            <a:r>
              <a:rPr lang="en-US" b="true" sz="3229">
                <a:solidFill>
                  <a:srgbClr val="3C3C3B"/>
                </a:solidFill>
                <a:latin typeface="Raleway Medium"/>
                <a:ea typeface="Raleway Medium"/>
                <a:cs typeface="Raleway Medium"/>
                <a:sym typeface="Raleway Medium"/>
              </a:rPr>
              <a:t>Process images in real time to detect and track a single hand.</a:t>
            </a:r>
          </a:p>
          <a:p>
            <a:pPr algn="ctr">
              <a:lnSpc>
                <a:spcPts val="3276"/>
              </a:lnSpc>
            </a:pPr>
          </a:p>
        </p:txBody>
      </p:sp>
      <p:sp>
        <p:nvSpPr>
          <p:cNvPr name="TextBox 16" id="16"/>
          <p:cNvSpPr txBox="true"/>
          <p:nvPr/>
        </p:nvSpPr>
        <p:spPr>
          <a:xfrm rot="0">
            <a:off x="6614849" y="2532466"/>
            <a:ext cx="4428150" cy="6657975"/>
          </a:xfrm>
          <a:prstGeom prst="rect">
            <a:avLst/>
          </a:prstGeom>
        </p:spPr>
        <p:txBody>
          <a:bodyPr anchor="t" rtlCol="false" tIns="0" lIns="0" bIns="0" rIns="0">
            <a:spAutoFit/>
          </a:bodyPr>
          <a:lstStyle/>
          <a:p>
            <a:pPr algn="ctr">
              <a:lnSpc>
                <a:spcPts val="3276"/>
              </a:lnSpc>
            </a:pPr>
          </a:p>
          <a:p>
            <a:pPr algn="l" marL="697354" indent="-348677" lvl="1">
              <a:lnSpc>
                <a:spcPts val="3875"/>
              </a:lnSpc>
              <a:buFont typeface="Arial"/>
              <a:buChar char="•"/>
            </a:pPr>
            <a:r>
              <a:rPr lang="en-US" b="true" sz="3229">
                <a:solidFill>
                  <a:srgbClr val="3C3C3B"/>
                </a:solidFill>
                <a:latin typeface="Raleway Medium"/>
                <a:ea typeface="Raleway Medium"/>
                <a:cs typeface="Raleway Medium"/>
                <a:sym typeface="Raleway Medium"/>
              </a:rPr>
              <a:t>U</a:t>
            </a:r>
            <a:r>
              <a:rPr lang="en-US" b="true" sz="3229">
                <a:solidFill>
                  <a:srgbClr val="3C3C3B"/>
                </a:solidFill>
                <a:latin typeface="Raleway Medium"/>
                <a:ea typeface="Raleway Medium"/>
                <a:cs typeface="Raleway Medium"/>
                <a:sym typeface="Raleway Medium"/>
              </a:rPr>
              <a:t>se cv zone. Hand Tracking Module to extract 21 hand landmarks and detect finger positions.</a:t>
            </a:r>
          </a:p>
          <a:p>
            <a:pPr algn="l">
              <a:lnSpc>
                <a:spcPts val="3875"/>
              </a:lnSpc>
            </a:pPr>
          </a:p>
          <a:p>
            <a:pPr algn="l" marL="697354" indent="-348677" lvl="1">
              <a:lnSpc>
                <a:spcPts val="3875"/>
              </a:lnSpc>
              <a:buFont typeface="Arial"/>
              <a:buChar char="•"/>
            </a:pPr>
            <a:r>
              <a:rPr lang="en-US" b="true" sz="3229">
                <a:solidFill>
                  <a:srgbClr val="3C3C3B"/>
                </a:solidFill>
                <a:latin typeface="Raleway Medium"/>
                <a:ea typeface="Raleway Medium"/>
                <a:cs typeface="Raleway Medium"/>
                <a:sym typeface="Raleway Medium"/>
              </a:rPr>
              <a:t>Ensure high detection confidence (≥ 0.8) to reduce false recognition.</a:t>
            </a:r>
          </a:p>
          <a:p>
            <a:pPr algn="ctr">
              <a:lnSpc>
                <a:spcPts val="327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5400000">
            <a:off x="-2542300" y="4632916"/>
            <a:ext cx="7182150" cy="1932900"/>
          </a:xfrm>
          <a:prstGeom prst="rect">
            <a:avLst/>
          </a:prstGeom>
        </p:spPr>
        <p:txBody>
          <a:bodyPr anchor="t" rtlCol="false" tIns="0" lIns="0" bIns="0" rIns="0">
            <a:spAutoFit/>
          </a:bodyPr>
          <a:lstStyle/>
          <a:p>
            <a:pPr algn="l">
              <a:lnSpc>
                <a:spcPts val="17064"/>
              </a:lnSpc>
            </a:pPr>
            <a:r>
              <a:rPr lang="en-US" sz="15800">
                <a:solidFill>
                  <a:srgbClr val="5C64B8"/>
                </a:solidFill>
                <a:latin typeface="Bebas Neue"/>
                <a:ea typeface="Bebas Neue"/>
                <a:cs typeface="Bebas Neue"/>
                <a:sym typeface="Bebas Neue"/>
              </a:rPr>
              <a:t>/(AI)/(AI)/</a:t>
            </a:r>
          </a:p>
        </p:txBody>
      </p:sp>
      <p:sp>
        <p:nvSpPr>
          <p:cNvPr name="TextBox 3" id="3"/>
          <p:cNvSpPr txBox="true"/>
          <p:nvPr/>
        </p:nvSpPr>
        <p:spPr>
          <a:xfrm rot="5400000">
            <a:off x="13544050" y="4937716"/>
            <a:ext cx="7182150" cy="1932900"/>
          </a:xfrm>
          <a:prstGeom prst="rect">
            <a:avLst/>
          </a:prstGeom>
        </p:spPr>
        <p:txBody>
          <a:bodyPr anchor="t" rtlCol="false" tIns="0" lIns="0" bIns="0" rIns="0">
            <a:spAutoFit/>
          </a:bodyPr>
          <a:lstStyle/>
          <a:p>
            <a:pPr algn="l">
              <a:lnSpc>
                <a:spcPts val="17064"/>
              </a:lnSpc>
            </a:pPr>
            <a:r>
              <a:rPr lang="en-US" sz="15800">
                <a:solidFill>
                  <a:srgbClr val="5C64B8"/>
                </a:solidFill>
                <a:latin typeface="Bebas Neue"/>
                <a:ea typeface="Bebas Neue"/>
                <a:cs typeface="Bebas Neue"/>
                <a:sym typeface="Bebas Neue"/>
              </a:rPr>
              <a:t>/(AI)/(AI)/</a:t>
            </a:r>
          </a:p>
        </p:txBody>
      </p:sp>
      <p:grpSp>
        <p:nvGrpSpPr>
          <p:cNvPr name="Group 4" id="4"/>
          <p:cNvGrpSpPr/>
          <p:nvPr/>
        </p:nvGrpSpPr>
        <p:grpSpPr>
          <a:xfrm rot="0">
            <a:off x="6617400" y="460934"/>
            <a:ext cx="5029200" cy="9425207"/>
            <a:chOff x="0" y="0"/>
            <a:chExt cx="6705600" cy="12566943"/>
          </a:xfrm>
        </p:grpSpPr>
        <p:sp>
          <p:nvSpPr>
            <p:cNvPr name="Freeform 5" id="5"/>
            <p:cNvSpPr/>
            <p:nvPr/>
          </p:nvSpPr>
          <p:spPr>
            <a:xfrm flipH="false" flipV="false" rot="0">
              <a:off x="0" y="0"/>
              <a:ext cx="6705600" cy="12566992"/>
            </a:xfrm>
            <a:custGeom>
              <a:avLst/>
              <a:gdLst/>
              <a:ahLst/>
              <a:cxnLst/>
              <a:rect r="r" b="b" t="t" l="l"/>
              <a:pathLst>
                <a:path h="12566992" w="6705600">
                  <a:moveTo>
                    <a:pt x="0" y="0"/>
                  </a:moveTo>
                  <a:lnTo>
                    <a:pt x="6705600" y="0"/>
                  </a:lnTo>
                  <a:lnTo>
                    <a:pt x="6705600" y="12566992"/>
                  </a:lnTo>
                  <a:lnTo>
                    <a:pt x="0" y="12566992"/>
                  </a:lnTo>
                  <a:close/>
                </a:path>
              </a:pathLst>
            </a:custGeom>
            <a:solidFill>
              <a:srgbClr val="E7E7E7"/>
            </a:solidFill>
          </p:spPr>
        </p:sp>
      </p:grpSp>
      <p:grpSp>
        <p:nvGrpSpPr>
          <p:cNvPr name="Group 6" id="6"/>
          <p:cNvGrpSpPr/>
          <p:nvPr/>
        </p:nvGrpSpPr>
        <p:grpSpPr>
          <a:xfrm rot="0">
            <a:off x="12818175" y="460934"/>
            <a:ext cx="5029200" cy="9425207"/>
            <a:chOff x="0" y="0"/>
            <a:chExt cx="6705600" cy="12566943"/>
          </a:xfrm>
        </p:grpSpPr>
        <p:sp>
          <p:nvSpPr>
            <p:cNvPr name="Freeform 7" id="7"/>
            <p:cNvSpPr/>
            <p:nvPr/>
          </p:nvSpPr>
          <p:spPr>
            <a:xfrm flipH="false" flipV="false" rot="0">
              <a:off x="0" y="0"/>
              <a:ext cx="6705600" cy="12566992"/>
            </a:xfrm>
            <a:custGeom>
              <a:avLst/>
              <a:gdLst/>
              <a:ahLst/>
              <a:cxnLst/>
              <a:rect r="r" b="b" t="t" l="l"/>
              <a:pathLst>
                <a:path h="12566992" w="6705600">
                  <a:moveTo>
                    <a:pt x="0" y="0"/>
                  </a:moveTo>
                  <a:lnTo>
                    <a:pt x="6705600" y="0"/>
                  </a:lnTo>
                  <a:lnTo>
                    <a:pt x="6705600" y="12566992"/>
                  </a:lnTo>
                  <a:lnTo>
                    <a:pt x="0" y="12566992"/>
                  </a:lnTo>
                  <a:close/>
                </a:path>
              </a:pathLst>
            </a:custGeom>
            <a:solidFill>
              <a:srgbClr val="E7E7E7"/>
            </a:solidFill>
          </p:spPr>
        </p:sp>
      </p:grpSp>
      <p:grpSp>
        <p:nvGrpSpPr>
          <p:cNvPr name="Group 8" id="8"/>
          <p:cNvGrpSpPr/>
          <p:nvPr/>
        </p:nvGrpSpPr>
        <p:grpSpPr>
          <a:xfrm rot="0">
            <a:off x="454725" y="460934"/>
            <a:ext cx="5029200" cy="9425207"/>
            <a:chOff x="0" y="0"/>
            <a:chExt cx="6705600" cy="12566943"/>
          </a:xfrm>
        </p:grpSpPr>
        <p:sp>
          <p:nvSpPr>
            <p:cNvPr name="Freeform 9" id="9"/>
            <p:cNvSpPr/>
            <p:nvPr/>
          </p:nvSpPr>
          <p:spPr>
            <a:xfrm flipH="false" flipV="false" rot="0">
              <a:off x="0" y="0"/>
              <a:ext cx="6705600" cy="12566992"/>
            </a:xfrm>
            <a:custGeom>
              <a:avLst/>
              <a:gdLst/>
              <a:ahLst/>
              <a:cxnLst/>
              <a:rect r="r" b="b" t="t" l="l"/>
              <a:pathLst>
                <a:path h="12566992" w="6705600">
                  <a:moveTo>
                    <a:pt x="0" y="0"/>
                  </a:moveTo>
                  <a:lnTo>
                    <a:pt x="6705600" y="0"/>
                  </a:lnTo>
                  <a:lnTo>
                    <a:pt x="6705600" y="12566992"/>
                  </a:lnTo>
                  <a:lnTo>
                    <a:pt x="0" y="12566992"/>
                  </a:lnTo>
                  <a:close/>
                </a:path>
              </a:pathLst>
            </a:custGeom>
            <a:solidFill>
              <a:srgbClr val="E7E7E7"/>
            </a:solidFill>
          </p:spPr>
        </p:sp>
      </p:grpSp>
      <p:sp>
        <p:nvSpPr>
          <p:cNvPr name="TextBox 10" id="10"/>
          <p:cNvSpPr txBox="true"/>
          <p:nvPr/>
        </p:nvSpPr>
        <p:spPr>
          <a:xfrm rot="0">
            <a:off x="583526" y="771395"/>
            <a:ext cx="4428150" cy="3810000"/>
          </a:xfrm>
          <a:prstGeom prst="rect">
            <a:avLst/>
          </a:prstGeom>
        </p:spPr>
        <p:txBody>
          <a:bodyPr anchor="t" rtlCol="false" tIns="0" lIns="0" bIns="0" rIns="0">
            <a:spAutoFit/>
          </a:bodyPr>
          <a:lstStyle/>
          <a:p>
            <a:pPr algn="ctr">
              <a:lnSpc>
                <a:spcPts val="6000"/>
              </a:lnSpc>
            </a:pPr>
            <a:r>
              <a:rPr lang="en-US" sz="5000">
                <a:solidFill>
                  <a:srgbClr val="3C3C3B"/>
                </a:solidFill>
                <a:latin typeface="Bebas Neue"/>
                <a:ea typeface="Bebas Neue"/>
                <a:cs typeface="Bebas Neue"/>
                <a:sym typeface="Bebas Neue"/>
              </a:rPr>
              <a:t>4. Ens</a:t>
            </a:r>
            <a:r>
              <a:rPr lang="en-US" sz="5000">
                <a:solidFill>
                  <a:srgbClr val="3C3C3B"/>
                </a:solidFill>
                <a:latin typeface="Bebas Neue"/>
                <a:ea typeface="Bebas Neue"/>
                <a:cs typeface="Bebas Neue"/>
                <a:sym typeface="Bebas Neue"/>
              </a:rPr>
              <a:t>ure Smooth and Stable Pointer Movement</a:t>
            </a:r>
          </a:p>
          <a:p>
            <a:pPr algn="ctr">
              <a:lnSpc>
                <a:spcPts val="6000"/>
              </a:lnSpc>
            </a:pPr>
          </a:p>
          <a:p>
            <a:pPr algn="ctr">
              <a:lnSpc>
                <a:spcPts val="5999"/>
              </a:lnSpc>
            </a:pPr>
          </a:p>
        </p:txBody>
      </p:sp>
      <p:sp>
        <p:nvSpPr>
          <p:cNvPr name="TextBox 11" id="11"/>
          <p:cNvSpPr txBox="true"/>
          <p:nvPr/>
        </p:nvSpPr>
        <p:spPr>
          <a:xfrm rot="0">
            <a:off x="6929925" y="771395"/>
            <a:ext cx="4428150" cy="3810000"/>
          </a:xfrm>
          <a:prstGeom prst="rect">
            <a:avLst/>
          </a:prstGeom>
        </p:spPr>
        <p:txBody>
          <a:bodyPr anchor="t" rtlCol="false" tIns="0" lIns="0" bIns="0" rIns="0">
            <a:spAutoFit/>
          </a:bodyPr>
          <a:lstStyle/>
          <a:p>
            <a:pPr algn="ctr">
              <a:lnSpc>
                <a:spcPts val="6000"/>
              </a:lnSpc>
            </a:pPr>
            <a:r>
              <a:rPr lang="en-US" sz="5000">
                <a:solidFill>
                  <a:srgbClr val="3C3C3B"/>
                </a:solidFill>
                <a:latin typeface="Bebas Neue"/>
                <a:ea typeface="Bebas Neue"/>
                <a:cs typeface="Bebas Neue"/>
                <a:sym typeface="Bebas Neue"/>
              </a:rPr>
              <a:t>5. De</a:t>
            </a:r>
            <a:r>
              <a:rPr lang="en-US" sz="5000">
                <a:solidFill>
                  <a:srgbClr val="3C3C3B"/>
                </a:solidFill>
                <a:latin typeface="Bebas Neue"/>
                <a:ea typeface="Bebas Neue"/>
                <a:cs typeface="Bebas Neue"/>
                <a:sym typeface="Bebas Neue"/>
              </a:rPr>
              <a:t>sign a Simple, User-Friendly Interface</a:t>
            </a:r>
          </a:p>
          <a:p>
            <a:pPr algn="ctr">
              <a:lnSpc>
                <a:spcPts val="6000"/>
              </a:lnSpc>
            </a:pPr>
          </a:p>
          <a:p>
            <a:pPr algn="ctr">
              <a:lnSpc>
                <a:spcPts val="5999"/>
              </a:lnSpc>
            </a:pPr>
          </a:p>
        </p:txBody>
      </p:sp>
      <p:sp>
        <p:nvSpPr>
          <p:cNvPr name="TextBox 12" id="12"/>
          <p:cNvSpPr txBox="true"/>
          <p:nvPr/>
        </p:nvSpPr>
        <p:spPr>
          <a:xfrm rot="0">
            <a:off x="13118700" y="2984753"/>
            <a:ext cx="4428150" cy="5219700"/>
          </a:xfrm>
          <a:prstGeom prst="rect">
            <a:avLst/>
          </a:prstGeom>
        </p:spPr>
        <p:txBody>
          <a:bodyPr anchor="t" rtlCol="false" tIns="0" lIns="0" bIns="0" rIns="0">
            <a:spAutoFit/>
          </a:bodyPr>
          <a:lstStyle/>
          <a:p>
            <a:pPr algn="ctr">
              <a:lnSpc>
                <a:spcPts val="3359"/>
              </a:lnSpc>
            </a:pPr>
          </a:p>
          <a:p>
            <a:pPr algn="l" marL="690877" indent="-345439" lvl="1">
              <a:lnSpc>
                <a:spcPts val="3839"/>
              </a:lnSpc>
              <a:buFont typeface="Arial"/>
              <a:buChar char="•"/>
            </a:pPr>
            <a:r>
              <a:rPr lang="en-US" b="true" sz="3199">
                <a:solidFill>
                  <a:srgbClr val="3C3C3B"/>
                </a:solidFill>
                <a:latin typeface="Raleway Medium"/>
                <a:ea typeface="Raleway Medium"/>
                <a:cs typeface="Raleway Medium"/>
                <a:sym typeface="Raleway Medium"/>
              </a:rPr>
              <a:t>Util</a:t>
            </a:r>
            <a:r>
              <a:rPr lang="en-US" b="true" sz="3199">
                <a:solidFill>
                  <a:srgbClr val="3C3C3B"/>
                </a:solidFill>
                <a:latin typeface="Raleway Medium"/>
                <a:ea typeface="Raleway Medium"/>
                <a:cs typeface="Raleway Medium"/>
                <a:sym typeface="Raleway Medium"/>
              </a:rPr>
              <a:t>ize freely available Python libraries (OpenCV, NumPy, cvzone).</a:t>
            </a:r>
          </a:p>
          <a:p>
            <a:pPr algn="l">
              <a:lnSpc>
                <a:spcPts val="3839"/>
              </a:lnSpc>
            </a:pPr>
          </a:p>
          <a:p>
            <a:pPr algn="l" marL="690877" indent="-345439" lvl="1">
              <a:lnSpc>
                <a:spcPts val="3839"/>
              </a:lnSpc>
              <a:buFont typeface="Arial"/>
              <a:buChar char="•"/>
            </a:pPr>
            <a:r>
              <a:rPr lang="en-US" b="true" sz="3199">
                <a:solidFill>
                  <a:srgbClr val="3C3C3B"/>
                </a:solidFill>
                <a:latin typeface="Raleway Medium"/>
                <a:ea typeface="Raleway Medium"/>
                <a:cs typeface="Raleway Medium"/>
                <a:sym typeface="Raleway Medium"/>
              </a:rPr>
              <a:t>Operate efficiently on standard laptop webcams without external sensors.</a:t>
            </a:r>
          </a:p>
          <a:p>
            <a:pPr algn="ctr">
              <a:lnSpc>
                <a:spcPts val="3359"/>
              </a:lnSpc>
            </a:pPr>
          </a:p>
        </p:txBody>
      </p:sp>
      <p:sp>
        <p:nvSpPr>
          <p:cNvPr name="TextBox 13" id="13"/>
          <p:cNvSpPr txBox="true"/>
          <p:nvPr/>
        </p:nvSpPr>
        <p:spPr>
          <a:xfrm rot="0">
            <a:off x="13094400" y="771395"/>
            <a:ext cx="4428150" cy="3048000"/>
          </a:xfrm>
          <a:prstGeom prst="rect">
            <a:avLst/>
          </a:prstGeom>
        </p:spPr>
        <p:txBody>
          <a:bodyPr anchor="t" rtlCol="false" tIns="0" lIns="0" bIns="0" rIns="0">
            <a:spAutoFit/>
          </a:bodyPr>
          <a:lstStyle/>
          <a:p>
            <a:pPr algn="ctr">
              <a:lnSpc>
                <a:spcPts val="6000"/>
              </a:lnSpc>
            </a:pPr>
            <a:r>
              <a:rPr lang="en-US" sz="5000">
                <a:solidFill>
                  <a:srgbClr val="3C3C3B"/>
                </a:solidFill>
                <a:latin typeface="Bebas Neue"/>
                <a:ea typeface="Bebas Neue"/>
                <a:cs typeface="Bebas Neue"/>
                <a:sym typeface="Bebas Neue"/>
              </a:rPr>
              <a:t>6. Provide a Low-Cost a</a:t>
            </a:r>
            <a:r>
              <a:rPr lang="en-US" sz="5000">
                <a:solidFill>
                  <a:srgbClr val="3C3C3B"/>
                </a:solidFill>
                <a:latin typeface="Bebas Neue"/>
                <a:ea typeface="Bebas Neue"/>
                <a:cs typeface="Bebas Neue"/>
                <a:sym typeface="Bebas Neue"/>
              </a:rPr>
              <a:t>nd Portable Solution</a:t>
            </a:r>
          </a:p>
          <a:p>
            <a:pPr algn="ctr">
              <a:lnSpc>
                <a:spcPts val="5999"/>
              </a:lnSpc>
            </a:pPr>
          </a:p>
        </p:txBody>
      </p:sp>
      <p:sp>
        <p:nvSpPr>
          <p:cNvPr name="Freeform 14" id="14"/>
          <p:cNvSpPr/>
          <p:nvPr/>
        </p:nvSpPr>
        <p:spPr>
          <a:xfrm flipH="false" flipV="false" rot="0">
            <a:off x="5011676" y="1091782"/>
            <a:ext cx="1826850" cy="741950"/>
          </a:xfrm>
          <a:custGeom>
            <a:avLst/>
            <a:gdLst/>
            <a:ahLst/>
            <a:cxnLst/>
            <a:rect r="r" b="b" t="t" l="l"/>
            <a:pathLst>
              <a:path h="741950" w="1826850">
                <a:moveTo>
                  <a:pt x="0" y="0"/>
                </a:moveTo>
                <a:lnTo>
                  <a:pt x="1826850" y="0"/>
                </a:lnTo>
                <a:lnTo>
                  <a:pt x="1826850" y="741950"/>
                </a:lnTo>
                <a:lnTo>
                  <a:pt x="0" y="741950"/>
                </a:lnTo>
                <a:lnTo>
                  <a:pt x="0" y="0"/>
                </a:lnTo>
                <a:close/>
              </a:path>
            </a:pathLst>
          </a:custGeom>
          <a:blipFill>
            <a:blip r:embed="rId3">
              <a:alphaModFix amt="24000"/>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583526" y="2671633"/>
            <a:ext cx="4428150" cy="6677025"/>
          </a:xfrm>
          <a:prstGeom prst="rect">
            <a:avLst/>
          </a:prstGeom>
        </p:spPr>
        <p:txBody>
          <a:bodyPr anchor="t" rtlCol="false" tIns="0" lIns="0" bIns="0" rIns="0">
            <a:spAutoFit/>
          </a:bodyPr>
          <a:lstStyle/>
          <a:p>
            <a:pPr algn="ctr">
              <a:lnSpc>
                <a:spcPts val="3359"/>
              </a:lnSpc>
            </a:pPr>
          </a:p>
          <a:p>
            <a:pPr algn="l" marL="690877" indent="-345439" lvl="1">
              <a:lnSpc>
                <a:spcPts val="3839"/>
              </a:lnSpc>
              <a:buFont typeface="Arial"/>
              <a:buChar char="•"/>
            </a:pPr>
            <a:r>
              <a:rPr lang="en-US" b="true" sz="3199">
                <a:solidFill>
                  <a:srgbClr val="3C3C3B"/>
                </a:solidFill>
                <a:latin typeface="Raleway Medium"/>
                <a:ea typeface="Raleway Medium"/>
                <a:cs typeface="Raleway Medium"/>
                <a:sym typeface="Raleway Medium"/>
              </a:rPr>
              <a:t>A</a:t>
            </a:r>
            <a:r>
              <a:rPr lang="en-US" b="true" sz="3199">
                <a:solidFill>
                  <a:srgbClr val="3C3C3B"/>
                </a:solidFill>
                <a:latin typeface="Raleway Medium"/>
                <a:ea typeface="Raleway Medium"/>
                <a:cs typeface="Raleway Medium"/>
                <a:sym typeface="Raleway Medium"/>
              </a:rPr>
              <a:t>pply interpolation and a smoothing factor to reduce jitter and ensure stable pointer tracking.</a:t>
            </a:r>
          </a:p>
          <a:p>
            <a:pPr algn="l">
              <a:lnSpc>
                <a:spcPts val="3839"/>
              </a:lnSpc>
            </a:pPr>
          </a:p>
          <a:p>
            <a:pPr algn="l" marL="690877" indent="-345439" lvl="1">
              <a:lnSpc>
                <a:spcPts val="3839"/>
              </a:lnSpc>
              <a:buFont typeface="Arial"/>
              <a:buChar char="•"/>
            </a:pPr>
            <a:r>
              <a:rPr lang="en-US" b="true" sz="3199">
                <a:solidFill>
                  <a:srgbClr val="3C3C3B"/>
                </a:solidFill>
                <a:latin typeface="Raleway Medium"/>
                <a:ea typeface="Raleway Medium"/>
                <a:cs typeface="Raleway Medium"/>
                <a:sym typeface="Raleway Medium"/>
              </a:rPr>
              <a:t>Maintain natural movement transitions using a smoothing constant.</a:t>
            </a:r>
          </a:p>
          <a:p>
            <a:pPr algn="l">
              <a:lnSpc>
                <a:spcPts val="3359"/>
              </a:lnSpc>
            </a:pPr>
          </a:p>
        </p:txBody>
      </p:sp>
      <p:sp>
        <p:nvSpPr>
          <p:cNvPr name="TextBox 16" id="16"/>
          <p:cNvSpPr txBox="true"/>
          <p:nvPr/>
        </p:nvSpPr>
        <p:spPr>
          <a:xfrm rot="0">
            <a:off x="6936975" y="3067050"/>
            <a:ext cx="4428150" cy="6191250"/>
          </a:xfrm>
          <a:prstGeom prst="rect">
            <a:avLst/>
          </a:prstGeom>
        </p:spPr>
        <p:txBody>
          <a:bodyPr anchor="t" rtlCol="false" tIns="0" lIns="0" bIns="0" rIns="0">
            <a:spAutoFit/>
          </a:bodyPr>
          <a:lstStyle/>
          <a:p>
            <a:pPr algn="l" marL="690877" indent="-345439" lvl="1">
              <a:lnSpc>
                <a:spcPts val="3839"/>
              </a:lnSpc>
              <a:buFont typeface="Arial"/>
              <a:buChar char="•"/>
            </a:pPr>
            <a:r>
              <a:rPr lang="en-US" b="true" sz="3199">
                <a:solidFill>
                  <a:srgbClr val="3C3C3B"/>
                </a:solidFill>
                <a:latin typeface="Raleway Medium"/>
                <a:ea typeface="Raleway Medium"/>
                <a:cs typeface="Raleway Medium"/>
                <a:sym typeface="Raleway Medium"/>
              </a:rPr>
              <a:t>Display both the presentation slide and live camera feed within one window.</a:t>
            </a:r>
          </a:p>
          <a:p>
            <a:pPr algn="l">
              <a:lnSpc>
                <a:spcPts val="3839"/>
              </a:lnSpc>
            </a:pPr>
          </a:p>
          <a:p>
            <a:pPr algn="l" marL="690877" indent="-345439" lvl="1">
              <a:lnSpc>
                <a:spcPts val="3839"/>
              </a:lnSpc>
              <a:buFont typeface="Arial"/>
              <a:buChar char="•"/>
            </a:pPr>
            <a:r>
              <a:rPr lang="en-US" b="true" sz="3199">
                <a:solidFill>
                  <a:srgbClr val="3C3C3B"/>
                </a:solidFill>
                <a:latin typeface="Raleway Medium"/>
                <a:ea typeface="Raleway Medium"/>
                <a:cs typeface="Raleway Medium"/>
                <a:sym typeface="Raleway Medium"/>
              </a:rPr>
              <a:t>Use threshold lines to differentiate between navigation and annotation zones.</a:t>
            </a:r>
          </a:p>
          <a:p>
            <a:pPr algn="ctr">
              <a:lnSpc>
                <a:spcPts val="3359"/>
              </a:lnSpc>
            </a:pPr>
          </a:p>
          <a:p>
            <a:pPr algn="ctr">
              <a:lnSpc>
                <a:spcPts val="33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6E79E4"/>
        </a:solidFill>
      </p:bgPr>
    </p:bg>
    <p:spTree>
      <p:nvGrpSpPr>
        <p:cNvPr id="1" name=""/>
        <p:cNvGrpSpPr/>
        <p:nvPr/>
      </p:nvGrpSpPr>
      <p:grpSpPr>
        <a:xfrm>
          <a:off x="0" y="0"/>
          <a:ext cx="0" cy="0"/>
          <a:chOff x="0" y="0"/>
          <a:chExt cx="0" cy="0"/>
        </a:xfrm>
      </p:grpSpPr>
      <p:sp>
        <p:nvSpPr>
          <p:cNvPr name="TextBox 2" id="2"/>
          <p:cNvSpPr txBox="true"/>
          <p:nvPr/>
        </p:nvSpPr>
        <p:spPr>
          <a:xfrm rot="5400000">
            <a:off x="-861500" y="644550"/>
            <a:ext cx="3343950" cy="1932900"/>
          </a:xfrm>
          <a:prstGeom prst="rect">
            <a:avLst/>
          </a:prstGeom>
        </p:spPr>
        <p:txBody>
          <a:bodyPr anchor="t" rtlCol="false" tIns="0" lIns="0" bIns="0" rIns="0">
            <a:spAutoFit/>
          </a:bodyPr>
          <a:lstStyle/>
          <a:p>
            <a:pPr algn="l">
              <a:lnSpc>
                <a:spcPts val="17064"/>
              </a:lnSpc>
            </a:pPr>
            <a:r>
              <a:rPr lang="en-US" sz="15800">
                <a:solidFill>
                  <a:srgbClr val="FFFFFF"/>
                </a:solidFill>
                <a:latin typeface="Bebas Neue"/>
                <a:ea typeface="Bebas Neue"/>
                <a:cs typeface="Bebas Neue"/>
                <a:sym typeface="Bebas Neue"/>
              </a:rPr>
              <a:t>/(AI)</a:t>
            </a:r>
          </a:p>
        </p:txBody>
      </p:sp>
      <p:grpSp>
        <p:nvGrpSpPr>
          <p:cNvPr name="Group 3" id="3"/>
          <p:cNvGrpSpPr/>
          <p:nvPr/>
        </p:nvGrpSpPr>
        <p:grpSpPr>
          <a:xfrm rot="0">
            <a:off x="14238462" y="7822818"/>
            <a:ext cx="1996800" cy="1996800"/>
            <a:chOff x="0" y="0"/>
            <a:chExt cx="2662400" cy="2662400"/>
          </a:xfrm>
        </p:grpSpPr>
        <p:sp>
          <p:nvSpPr>
            <p:cNvPr name="Freeform 4" id="4"/>
            <p:cNvSpPr/>
            <p:nvPr/>
          </p:nvSpPr>
          <p:spPr>
            <a:xfrm flipH="false" flipV="false" rot="0">
              <a:off x="0" y="0"/>
              <a:ext cx="2662428" cy="2662428"/>
            </a:xfrm>
            <a:custGeom>
              <a:avLst/>
              <a:gdLst/>
              <a:ahLst/>
              <a:cxnLst/>
              <a:rect r="r" b="b" t="t" l="l"/>
              <a:pathLst>
                <a:path h="2662428" w="2662428">
                  <a:moveTo>
                    <a:pt x="0" y="1331214"/>
                  </a:moveTo>
                  <a:cubicBezTo>
                    <a:pt x="0" y="596011"/>
                    <a:pt x="596011" y="0"/>
                    <a:pt x="1331214" y="0"/>
                  </a:cubicBezTo>
                  <a:cubicBezTo>
                    <a:pt x="2066417" y="0"/>
                    <a:pt x="2662428" y="596011"/>
                    <a:pt x="2662428" y="1331214"/>
                  </a:cubicBezTo>
                  <a:cubicBezTo>
                    <a:pt x="2662428" y="2066417"/>
                    <a:pt x="2066417" y="2662428"/>
                    <a:pt x="1331214" y="2662428"/>
                  </a:cubicBezTo>
                  <a:cubicBezTo>
                    <a:pt x="596011" y="2662428"/>
                    <a:pt x="0" y="2066417"/>
                    <a:pt x="0" y="1331214"/>
                  </a:cubicBezTo>
                  <a:close/>
                </a:path>
              </a:pathLst>
            </a:custGeom>
            <a:solidFill>
              <a:srgbClr val="000000">
                <a:alpha val="14510"/>
              </a:srgbClr>
            </a:solidFill>
          </p:spPr>
        </p:sp>
      </p:grpSp>
      <p:grpSp>
        <p:nvGrpSpPr>
          <p:cNvPr name="Group 5" id="5"/>
          <p:cNvGrpSpPr/>
          <p:nvPr/>
        </p:nvGrpSpPr>
        <p:grpSpPr>
          <a:xfrm rot="0">
            <a:off x="2882400" y="1070100"/>
            <a:ext cx="12523200" cy="8146800"/>
            <a:chOff x="0" y="0"/>
            <a:chExt cx="16697600" cy="10862400"/>
          </a:xfrm>
        </p:grpSpPr>
        <p:sp>
          <p:nvSpPr>
            <p:cNvPr name="Freeform 6" id="6"/>
            <p:cNvSpPr/>
            <p:nvPr/>
          </p:nvSpPr>
          <p:spPr>
            <a:xfrm flipH="false" flipV="false" rot="0">
              <a:off x="0" y="0"/>
              <a:ext cx="16697579" cy="10862437"/>
            </a:xfrm>
            <a:custGeom>
              <a:avLst/>
              <a:gdLst/>
              <a:ahLst/>
              <a:cxnLst/>
              <a:rect r="r" b="b" t="t" l="l"/>
              <a:pathLst>
                <a:path h="10862437" w="16697579">
                  <a:moveTo>
                    <a:pt x="0" y="0"/>
                  </a:moveTo>
                  <a:lnTo>
                    <a:pt x="16697579" y="0"/>
                  </a:lnTo>
                  <a:lnTo>
                    <a:pt x="16697579" y="10862437"/>
                  </a:lnTo>
                  <a:lnTo>
                    <a:pt x="0" y="10862437"/>
                  </a:lnTo>
                  <a:close/>
                </a:path>
              </a:pathLst>
            </a:custGeom>
            <a:solidFill>
              <a:srgbClr val="191919"/>
            </a:solidFill>
          </p:spPr>
        </p:sp>
      </p:grpSp>
      <p:grpSp>
        <p:nvGrpSpPr>
          <p:cNvPr name="Group 7" id="7"/>
          <p:cNvGrpSpPr/>
          <p:nvPr/>
        </p:nvGrpSpPr>
        <p:grpSpPr>
          <a:xfrm rot="0">
            <a:off x="3564000" y="1664118"/>
            <a:ext cx="11160000" cy="6880800"/>
            <a:chOff x="0" y="0"/>
            <a:chExt cx="14880000" cy="9174400"/>
          </a:xfrm>
        </p:grpSpPr>
        <p:sp>
          <p:nvSpPr>
            <p:cNvPr name="Freeform 8" id="8"/>
            <p:cNvSpPr/>
            <p:nvPr/>
          </p:nvSpPr>
          <p:spPr>
            <a:xfrm flipH="false" flipV="false" rot="0">
              <a:off x="0" y="0"/>
              <a:ext cx="14879955" cy="9174353"/>
            </a:xfrm>
            <a:custGeom>
              <a:avLst/>
              <a:gdLst/>
              <a:ahLst/>
              <a:cxnLst/>
              <a:rect r="r" b="b" t="t" l="l"/>
              <a:pathLst>
                <a:path h="9174353" w="14879955">
                  <a:moveTo>
                    <a:pt x="0" y="0"/>
                  </a:moveTo>
                  <a:lnTo>
                    <a:pt x="14879955" y="0"/>
                  </a:lnTo>
                  <a:lnTo>
                    <a:pt x="14879955" y="9174353"/>
                  </a:lnTo>
                  <a:lnTo>
                    <a:pt x="0" y="9174353"/>
                  </a:lnTo>
                  <a:close/>
                </a:path>
              </a:pathLst>
            </a:custGeom>
            <a:solidFill>
              <a:srgbClr val="E7E7E7"/>
            </a:solidFill>
          </p:spPr>
        </p:sp>
      </p:grpSp>
      <p:sp>
        <p:nvSpPr>
          <p:cNvPr name="TextBox 9" id="9"/>
          <p:cNvSpPr txBox="true"/>
          <p:nvPr/>
        </p:nvSpPr>
        <p:spPr>
          <a:xfrm rot="0">
            <a:off x="4698909" y="4290284"/>
            <a:ext cx="9706950" cy="1847850"/>
          </a:xfrm>
          <a:prstGeom prst="rect">
            <a:avLst/>
          </a:prstGeom>
        </p:spPr>
        <p:txBody>
          <a:bodyPr anchor="t" rtlCol="false" tIns="0" lIns="0" bIns="0" rIns="0">
            <a:spAutoFit/>
          </a:bodyPr>
          <a:lstStyle/>
          <a:p>
            <a:pPr algn="r">
              <a:lnSpc>
                <a:spcPts val="14400"/>
              </a:lnSpc>
            </a:pPr>
            <a:r>
              <a:rPr lang="en-US" sz="12000">
                <a:solidFill>
                  <a:srgbClr val="191919"/>
                </a:solidFill>
                <a:latin typeface="Bebas Neue"/>
                <a:ea typeface="Bebas Neue"/>
                <a:cs typeface="Bebas Neue"/>
                <a:sym typeface="Bebas Neue"/>
              </a:rPr>
              <a:t>RESULT &amp; DISCUSSION</a:t>
            </a:r>
          </a:p>
        </p:txBody>
      </p:sp>
      <p:sp>
        <p:nvSpPr>
          <p:cNvPr name="TextBox 10" id="10"/>
          <p:cNvSpPr txBox="true"/>
          <p:nvPr/>
        </p:nvSpPr>
        <p:spPr>
          <a:xfrm rot="0">
            <a:off x="10823109" y="2606684"/>
            <a:ext cx="3582750" cy="1847850"/>
          </a:xfrm>
          <a:prstGeom prst="rect">
            <a:avLst/>
          </a:prstGeom>
        </p:spPr>
        <p:txBody>
          <a:bodyPr anchor="t" rtlCol="false" tIns="0" lIns="0" bIns="0" rIns="0">
            <a:spAutoFit/>
          </a:bodyPr>
          <a:lstStyle/>
          <a:p>
            <a:pPr algn="r">
              <a:lnSpc>
                <a:spcPts val="14400"/>
              </a:lnSpc>
            </a:pPr>
            <a:r>
              <a:rPr lang="en-US" sz="12000">
                <a:solidFill>
                  <a:srgbClr val="191919"/>
                </a:solidFill>
                <a:latin typeface="Bebas Neue"/>
                <a:ea typeface="Bebas Neue"/>
                <a:cs typeface="Bebas Neue"/>
                <a:sym typeface="Bebas Neue"/>
              </a:rPr>
              <a:t>04.</a:t>
            </a:r>
          </a:p>
        </p:txBody>
      </p:sp>
      <p:sp>
        <p:nvSpPr>
          <p:cNvPr name="Freeform 11" id="11"/>
          <p:cNvSpPr/>
          <p:nvPr/>
        </p:nvSpPr>
        <p:spPr>
          <a:xfrm flipH="false" flipV="false" rot="0">
            <a:off x="11183800" y="2336408"/>
            <a:ext cx="6795700" cy="374550"/>
          </a:xfrm>
          <a:custGeom>
            <a:avLst/>
            <a:gdLst/>
            <a:ahLst/>
            <a:cxnLst/>
            <a:rect r="r" b="b" t="t" l="l"/>
            <a:pathLst>
              <a:path h="374550" w="6795700">
                <a:moveTo>
                  <a:pt x="0" y="0"/>
                </a:moveTo>
                <a:lnTo>
                  <a:pt x="6795700" y="0"/>
                </a:lnTo>
                <a:lnTo>
                  <a:pt x="6795700" y="374550"/>
                </a:lnTo>
                <a:lnTo>
                  <a:pt x="0" y="3745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2" id="12"/>
          <p:cNvSpPr/>
          <p:nvPr/>
        </p:nvSpPr>
        <p:spPr>
          <a:xfrm rot="10779377">
            <a:off x="4371624" y="7537593"/>
            <a:ext cx="13952951" cy="0"/>
          </a:xfrm>
          <a:prstGeom prst="line">
            <a:avLst/>
          </a:prstGeom>
          <a:ln cap="rnd" w="19050">
            <a:solidFill>
              <a:srgbClr val="191919"/>
            </a:solidFill>
            <a:prstDash val="solid"/>
            <a:headEnd type="none" len="sm" w="sm"/>
            <a:tailEnd type="none" len="sm" w="sm"/>
          </a:ln>
        </p:spPr>
      </p:sp>
      <p:sp>
        <p:nvSpPr>
          <p:cNvPr name="Freeform 13" id="13"/>
          <p:cNvSpPr/>
          <p:nvPr/>
        </p:nvSpPr>
        <p:spPr>
          <a:xfrm flipH="false" flipV="false" rot="0">
            <a:off x="2250478" y="7350814"/>
            <a:ext cx="1545210" cy="392602"/>
          </a:xfrm>
          <a:custGeom>
            <a:avLst/>
            <a:gdLst/>
            <a:ahLst/>
            <a:cxnLst/>
            <a:rect r="r" b="b" t="t" l="l"/>
            <a:pathLst>
              <a:path h="392602" w="1545210">
                <a:moveTo>
                  <a:pt x="0" y="0"/>
                </a:moveTo>
                <a:lnTo>
                  <a:pt x="1545210" y="0"/>
                </a:lnTo>
                <a:lnTo>
                  <a:pt x="1545210" y="392602"/>
                </a:lnTo>
                <a:lnTo>
                  <a:pt x="0" y="3926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0856425" y="3574675"/>
            <a:ext cx="7325550" cy="6662700"/>
          </a:xfrm>
          <a:prstGeom prst="rect">
            <a:avLst/>
          </a:prstGeom>
        </p:spPr>
        <p:txBody>
          <a:bodyPr anchor="t" rtlCol="false" tIns="0" lIns="0" bIns="0" rIns="0">
            <a:spAutoFit/>
          </a:bodyPr>
          <a:lstStyle/>
          <a:p>
            <a:pPr algn="r">
              <a:lnSpc>
                <a:spcPts val="17064"/>
              </a:lnSpc>
            </a:pPr>
            <a:r>
              <a:rPr lang="en-US" sz="15800">
                <a:solidFill>
                  <a:srgbClr val="5C64B8">
                    <a:alpha val="40000"/>
                  </a:srgbClr>
                </a:solidFill>
                <a:latin typeface="Bebas Neue"/>
                <a:ea typeface="Bebas Neue"/>
                <a:cs typeface="Bebas Neue"/>
                <a:sym typeface="Bebas Neue"/>
              </a:rPr>
              <a:t>ARTIFICIAL INTELLIGENCE (AI)</a:t>
            </a:r>
          </a:p>
        </p:txBody>
      </p:sp>
      <p:grpSp>
        <p:nvGrpSpPr>
          <p:cNvPr name="Group 3" id="3"/>
          <p:cNvGrpSpPr/>
          <p:nvPr/>
        </p:nvGrpSpPr>
        <p:grpSpPr>
          <a:xfrm rot="0">
            <a:off x="173204" y="0"/>
            <a:ext cx="18008771" cy="10287000"/>
            <a:chOff x="0" y="0"/>
            <a:chExt cx="24011695" cy="13716000"/>
          </a:xfrm>
        </p:grpSpPr>
        <p:sp>
          <p:nvSpPr>
            <p:cNvPr name="Freeform 4" id="4"/>
            <p:cNvSpPr/>
            <p:nvPr/>
          </p:nvSpPr>
          <p:spPr>
            <a:xfrm flipH="false" flipV="false" rot="0">
              <a:off x="149975" y="215410"/>
              <a:ext cx="23711856" cy="13285393"/>
            </a:xfrm>
            <a:custGeom>
              <a:avLst/>
              <a:gdLst/>
              <a:ahLst/>
              <a:cxnLst/>
              <a:rect r="r" b="b" t="t" l="l"/>
              <a:pathLst>
                <a:path h="13285393" w="23711856">
                  <a:moveTo>
                    <a:pt x="0" y="0"/>
                  </a:moveTo>
                  <a:lnTo>
                    <a:pt x="23711857" y="0"/>
                  </a:lnTo>
                  <a:lnTo>
                    <a:pt x="23711857" y="13285392"/>
                  </a:lnTo>
                  <a:lnTo>
                    <a:pt x="0" y="13285392"/>
                  </a:lnTo>
                </a:path>
              </a:pathLst>
            </a:custGeom>
            <a:solidFill>
              <a:srgbClr val="C1C1C1"/>
            </a:solidFill>
          </p:spPr>
        </p:sp>
        <p:sp>
          <p:nvSpPr>
            <p:cNvPr name="Freeform 5" id="5"/>
            <p:cNvSpPr/>
            <p:nvPr/>
          </p:nvSpPr>
          <p:spPr>
            <a:xfrm flipH="false" flipV="false" rot="0">
              <a:off x="149975" y="0"/>
              <a:ext cx="23861739" cy="13716025"/>
            </a:xfrm>
            <a:custGeom>
              <a:avLst/>
              <a:gdLst/>
              <a:ahLst/>
              <a:cxnLst/>
              <a:rect r="r" b="b" t="t" l="l"/>
              <a:pathLst>
                <a:path h="13716025" w="23861739">
                  <a:moveTo>
                    <a:pt x="0" y="0"/>
                  </a:moveTo>
                  <a:lnTo>
                    <a:pt x="23711857" y="0"/>
                  </a:lnTo>
                  <a:cubicBezTo>
                    <a:pt x="23794343" y="0"/>
                    <a:pt x="23861739" y="96934"/>
                    <a:pt x="23861739" y="215410"/>
                  </a:cubicBezTo>
                  <a:lnTo>
                    <a:pt x="23861739" y="13500802"/>
                  </a:lnTo>
                  <a:cubicBezTo>
                    <a:pt x="23861739" y="13619277"/>
                    <a:pt x="23794343" y="13716025"/>
                    <a:pt x="23711857" y="13716025"/>
                  </a:cubicBezTo>
                  <a:lnTo>
                    <a:pt x="0" y="13716025"/>
                  </a:lnTo>
                  <a:lnTo>
                    <a:pt x="0" y="13285392"/>
                  </a:lnTo>
                  <a:lnTo>
                    <a:pt x="23711857" y="13285392"/>
                  </a:lnTo>
                  <a:lnTo>
                    <a:pt x="23711857" y="13500802"/>
                  </a:lnTo>
                  <a:lnTo>
                    <a:pt x="23561882" y="13500802"/>
                  </a:lnTo>
                  <a:lnTo>
                    <a:pt x="23561882" y="215410"/>
                  </a:lnTo>
                  <a:lnTo>
                    <a:pt x="23711857" y="215410"/>
                  </a:lnTo>
                  <a:lnTo>
                    <a:pt x="23711857" y="430819"/>
                  </a:lnTo>
                  <a:lnTo>
                    <a:pt x="0" y="430819"/>
                  </a:lnTo>
                  <a:close/>
                </a:path>
              </a:pathLst>
            </a:custGeom>
            <a:solidFill>
              <a:srgbClr val="191919"/>
            </a:solidFill>
          </p:spPr>
        </p:sp>
      </p:grpSp>
      <p:grpSp>
        <p:nvGrpSpPr>
          <p:cNvPr name="Group 6" id="6"/>
          <p:cNvGrpSpPr/>
          <p:nvPr/>
        </p:nvGrpSpPr>
        <p:grpSpPr>
          <a:xfrm rot="0">
            <a:off x="365384" y="483784"/>
            <a:ext cx="17428848" cy="9353676"/>
            <a:chOff x="0" y="0"/>
            <a:chExt cx="4367038" cy="2343692"/>
          </a:xfrm>
        </p:grpSpPr>
        <p:sp>
          <p:nvSpPr>
            <p:cNvPr name="Freeform 7" id="7"/>
            <p:cNvSpPr/>
            <p:nvPr/>
          </p:nvSpPr>
          <p:spPr>
            <a:xfrm flipH="false" flipV="false" rot="0">
              <a:off x="27275" y="36810"/>
              <a:ext cx="4312481" cy="2270097"/>
            </a:xfrm>
            <a:custGeom>
              <a:avLst/>
              <a:gdLst/>
              <a:ahLst/>
              <a:cxnLst/>
              <a:rect r="r" b="b" t="t" l="l"/>
              <a:pathLst>
                <a:path h="2270097" w="4312481">
                  <a:moveTo>
                    <a:pt x="0" y="0"/>
                  </a:moveTo>
                  <a:lnTo>
                    <a:pt x="4312481" y="0"/>
                  </a:lnTo>
                  <a:lnTo>
                    <a:pt x="4312481" y="2270098"/>
                  </a:lnTo>
                  <a:lnTo>
                    <a:pt x="0" y="2270098"/>
                  </a:lnTo>
                </a:path>
              </a:pathLst>
            </a:custGeom>
            <a:solidFill>
              <a:srgbClr val="6E79E4"/>
            </a:solidFill>
          </p:spPr>
        </p:sp>
        <p:sp>
          <p:nvSpPr>
            <p:cNvPr name="Freeform 8" id="8"/>
            <p:cNvSpPr/>
            <p:nvPr/>
          </p:nvSpPr>
          <p:spPr>
            <a:xfrm flipH="false" flipV="false" rot="0">
              <a:off x="27275" y="0"/>
              <a:ext cx="4339756" cy="2343710"/>
            </a:xfrm>
            <a:custGeom>
              <a:avLst/>
              <a:gdLst/>
              <a:ahLst/>
              <a:cxnLst/>
              <a:rect r="r" b="b" t="t" l="l"/>
              <a:pathLst>
                <a:path h="2343710" w="4339756">
                  <a:moveTo>
                    <a:pt x="0" y="0"/>
                  </a:moveTo>
                  <a:lnTo>
                    <a:pt x="4312481" y="0"/>
                  </a:lnTo>
                  <a:cubicBezTo>
                    <a:pt x="4327482" y="0"/>
                    <a:pt x="4339756" y="16565"/>
                    <a:pt x="4339756" y="36810"/>
                  </a:cubicBezTo>
                  <a:lnTo>
                    <a:pt x="4339756" y="2306908"/>
                  </a:lnTo>
                  <a:cubicBezTo>
                    <a:pt x="4339756" y="2327153"/>
                    <a:pt x="4327482" y="2343710"/>
                    <a:pt x="4312481" y="2343710"/>
                  </a:cubicBezTo>
                  <a:lnTo>
                    <a:pt x="0" y="2343710"/>
                  </a:lnTo>
                  <a:lnTo>
                    <a:pt x="0" y="2270097"/>
                  </a:lnTo>
                  <a:lnTo>
                    <a:pt x="4312481" y="2270097"/>
                  </a:lnTo>
                  <a:lnTo>
                    <a:pt x="4312481" y="2306908"/>
                  </a:lnTo>
                  <a:lnTo>
                    <a:pt x="4285206" y="2306908"/>
                  </a:lnTo>
                  <a:lnTo>
                    <a:pt x="4285206" y="36810"/>
                  </a:lnTo>
                  <a:lnTo>
                    <a:pt x="4312481" y="36810"/>
                  </a:lnTo>
                  <a:lnTo>
                    <a:pt x="4312481" y="73621"/>
                  </a:lnTo>
                  <a:lnTo>
                    <a:pt x="0" y="73621"/>
                  </a:lnTo>
                  <a:close/>
                </a:path>
              </a:pathLst>
            </a:custGeom>
            <a:solidFill>
              <a:srgbClr val="191919"/>
            </a:solidFill>
          </p:spPr>
        </p:sp>
      </p:grpSp>
      <p:sp>
        <p:nvSpPr>
          <p:cNvPr name="TextBox 9" id="9"/>
          <p:cNvSpPr txBox="true"/>
          <p:nvPr/>
        </p:nvSpPr>
        <p:spPr>
          <a:xfrm rot="0">
            <a:off x="173204" y="1019175"/>
            <a:ext cx="17342864" cy="8953500"/>
          </a:xfrm>
          <a:prstGeom prst="rect">
            <a:avLst/>
          </a:prstGeom>
        </p:spPr>
        <p:txBody>
          <a:bodyPr anchor="t" rtlCol="false" tIns="0" lIns="0" bIns="0" rIns="0">
            <a:spAutoFit/>
          </a:bodyPr>
          <a:lstStyle/>
          <a:p>
            <a:pPr algn="l" marL="626122" indent="-313061" lvl="1">
              <a:lnSpc>
                <a:spcPts val="3480"/>
              </a:lnSpc>
              <a:buFont typeface="Arial"/>
              <a:buChar char="•"/>
            </a:pPr>
            <a:r>
              <a:rPr lang="en-US" b="true" sz="2900">
                <a:solidFill>
                  <a:srgbClr val="000000"/>
                </a:solidFill>
                <a:latin typeface="Raleway Bold"/>
                <a:ea typeface="Raleway Bold"/>
                <a:cs typeface="Raleway Bold"/>
                <a:sym typeface="Raleway Bold"/>
              </a:rPr>
              <a:t>The AI-based gesture control system was tested under various lighting conditions and camera positions. It achieved high accuracy and stability in recognizing gestures, provided the background was not cluttered. The transition between slides was instantaneous, and drawing operations were fluid.</a:t>
            </a:r>
          </a:p>
          <a:p>
            <a:pPr algn="l">
              <a:lnSpc>
                <a:spcPts val="3480"/>
              </a:lnSpc>
            </a:pPr>
          </a:p>
          <a:p>
            <a:pPr algn="l" marL="626122" indent="-313061" lvl="1">
              <a:lnSpc>
                <a:spcPts val="3480"/>
              </a:lnSpc>
              <a:buFont typeface="Arial"/>
              <a:buChar char="•"/>
            </a:pPr>
            <a:r>
              <a:rPr lang="en-US" b="true" sz="2900">
                <a:solidFill>
                  <a:srgbClr val="000000"/>
                </a:solidFill>
                <a:latin typeface="Raleway Bold"/>
                <a:ea typeface="Raleway Bold"/>
                <a:cs typeface="Raleway Bold"/>
                <a:sym typeface="Raleway Bold"/>
              </a:rPr>
              <a:t>Users found the experience intuitive—raising one finger to draw or two fingers to point felt natural and easy to adapt. The pointer smoothing made the cursor movement appear consistent and professional, preventing abrupt jumps.</a:t>
            </a:r>
          </a:p>
          <a:p>
            <a:pPr algn="l">
              <a:lnSpc>
                <a:spcPts val="3480"/>
              </a:lnSpc>
            </a:pPr>
          </a:p>
          <a:p>
            <a:pPr algn="l" marL="604532" indent="-302266" lvl="1">
              <a:lnSpc>
                <a:spcPts val="3360"/>
              </a:lnSpc>
              <a:buFont typeface="Arial"/>
              <a:buChar char="•"/>
            </a:pPr>
            <a:r>
              <a:rPr lang="en-US" b="true" sz="2800">
                <a:solidFill>
                  <a:srgbClr val="000000"/>
                </a:solidFill>
                <a:latin typeface="Raleway Bold"/>
                <a:ea typeface="Raleway Bold"/>
                <a:cs typeface="Raleway Bold"/>
                <a:sym typeface="Raleway Bold"/>
              </a:rPr>
              <a:t>Additionally, the integration of a live webcam feed within the presentation enhanced engagement, as the presenter remained visible while interacting with the slides.</a:t>
            </a:r>
          </a:p>
          <a:p>
            <a:pPr algn="l">
              <a:lnSpc>
                <a:spcPts val="3360"/>
              </a:lnSpc>
            </a:pPr>
          </a:p>
          <a:p>
            <a:pPr algn="l" marL="626122" indent="-313061" lvl="1">
              <a:lnSpc>
                <a:spcPts val="3480"/>
              </a:lnSpc>
              <a:buFont typeface="Arial"/>
              <a:buChar char="•"/>
            </a:pPr>
            <a:r>
              <a:rPr lang="en-US" b="true" sz="2900">
                <a:solidFill>
                  <a:srgbClr val="000000"/>
                </a:solidFill>
                <a:latin typeface="Raleway Bold"/>
                <a:ea typeface="Raleway Bold"/>
                <a:cs typeface="Raleway Bold"/>
                <a:sym typeface="Raleway Bold"/>
              </a:rPr>
              <a:t>However, some limitations were observed: gesture detection was slightly inconsistent when lighting was dim or the background color closely matched skin tone. Multi-hand gestures occasionally caused overlap in recognition, which could be improved with further tuning or deep-learning-based classification models.</a:t>
            </a:r>
          </a:p>
          <a:p>
            <a:pPr algn="l">
              <a:lnSpc>
                <a:spcPts val="3360"/>
              </a:lnSpc>
            </a:pPr>
          </a:p>
          <a:p>
            <a:pPr algn="l" marL="626122" indent="-313061" lvl="1">
              <a:lnSpc>
                <a:spcPts val="3480"/>
              </a:lnSpc>
              <a:buFont typeface="Arial"/>
              <a:buChar char="•"/>
            </a:pPr>
            <a:r>
              <a:rPr lang="en-US" b="true" sz="2900">
                <a:solidFill>
                  <a:srgbClr val="000000"/>
                </a:solidFill>
                <a:latin typeface="Raleway Bold"/>
                <a:ea typeface="Raleway Bold"/>
                <a:cs typeface="Raleway Bold"/>
                <a:sym typeface="Raleway Bold"/>
              </a:rPr>
              <a:t>Overall, the system performed effectively, meeting all project objectives and successfully demonstrating the potential of real-time AI-driven gesture control.</a:t>
            </a:r>
          </a:p>
          <a:p>
            <a:pPr algn="ctr">
              <a:lnSpc>
                <a:spcPts val="552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6E79E4"/>
        </a:solidFill>
      </p:bgPr>
    </p:bg>
    <p:spTree>
      <p:nvGrpSpPr>
        <p:cNvPr id="1" name=""/>
        <p:cNvGrpSpPr/>
        <p:nvPr/>
      </p:nvGrpSpPr>
      <p:grpSpPr>
        <a:xfrm>
          <a:off x="0" y="0"/>
          <a:ext cx="0" cy="0"/>
          <a:chOff x="0" y="0"/>
          <a:chExt cx="0" cy="0"/>
        </a:xfrm>
      </p:grpSpPr>
      <p:sp>
        <p:nvSpPr>
          <p:cNvPr name="TextBox 2" id="2"/>
          <p:cNvSpPr txBox="true"/>
          <p:nvPr/>
        </p:nvSpPr>
        <p:spPr>
          <a:xfrm rot="0">
            <a:off x="393225" y="8952309"/>
            <a:ext cx="3343950" cy="1932900"/>
          </a:xfrm>
          <a:prstGeom prst="rect">
            <a:avLst/>
          </a:prstGeom>
        </p:spPr>
        <p:txBody>
          <a:bodyPr anchor="t" rtlCol="false" tIns="0" lIns="0" bIns="0" rIns="0">
            <a:spAutoFit/>
          </a:bodyPr>
          <a:lstStyle/>
          <a:p>
            <a:pPr algn="l">
              <a:lnSpc>
                <a:spcPts val="17064"/>
              </a:lnSpc>
            </a:pPr>
            <a:r>
              <a:rPr lang="en-US" sz="15800">
                <a:solidFill>
                  <a:srgbClr val="FFFFFF"/>
                </a:solidFill>
                <a:latin typeface="Bebas Neue"/>
                <a:ea typeface="Bebas Neue"/>
                <a:cs typeface="Bebas Neue"/>
                <a:sym typeface="Bebas Neue"/>
              </a:rPr>
              <a:t>/(AI)</a:t>
            </a:r>
          </a:p>
        </p:txBody>
      </p:sp>
      <p:grpSp>
        <p:nvGrpSpPr>
          <p:cNvPr name="Group 3" id="3"/>
          <p:cNvGrpSpPr/>
          <p:nvPr/>
        </p:nvGrpSpPr>
        <p:grpSpPr>
          <a:xfrm rot="0">
            <a:off x="6376582" y="339618"/>
            <a:ext cx="1996800" cy="1996800"/>
            <a:chOff x="0" y="0"/>
            <a:chExt cx="2662400" cy="2662400"/>
          </a:xfrm>
        </p:grpSpPr>
        <p:sp>
          <p:nvSpPr>
            <p:cNvPr name="Freeform 4" id="4"/>
            <p:cNvSpPr/>
            <p:nvPr/>
          </p:nvSpPr>
          <p:spPr>
            <a:xfrm flipH="false" flipV="false" rot="0">
              <a:off x="0" y="0"/>
              <a:ext cx="2662428" cy="2662428"/>
            </a:xfrm>
            <a:custGeom>
              <a:avLst/>
              <a:gdLst/>
              <a:ahLst/>
              <a:cxnLst/>
              <a:rect r="r" b="b" t="t" l="l"/>
              <a:pathLst>
                <a:path h="2662428" w="2662428">
                  <a:moveTo>
                    <a:pt x="0" y="1331214"/>
                  </a:moveTo>
                  <a:cubicBezTo>
                    <a:pt x="0" y="596011"/>
                    <a:pt x="596011" y="0"/>
                    <a:pt x="1331214" y="0"/>
                  </a:cubicBezTo>
                  <a:cubicBezTo>
                    <a:pt x="2066417" y="0"/>
                    <a:pt x="2662428" y="596011"/>
                    <a:pt x="2662428" y="1331214"/>
                  </a:cubicBezTo>
                  <a:cubicBezTo>
                    <a:pt x="2662428" y="2066417"/>
                    <a:pt x="2066417" y="2662428"/>
                    <a:pt x="1331214" y="2662428"/>
                  </a:cubicBezTo>
                  <a:cubicBezTo>
                    <a:pt x="596011" y="2662428"/>
                    <a:pt x="0" y="2066417"/>
                    <a:pt x="0" y="1331214"/>
                  </a:cubicBezTo>
                  <a:close/>
                </a:path>
              </a:pathLst>
            </a:custGeom>
            <a:solidFill>
              <a:srgbClr val="000000">
                <a:alpha val="14510"/>
              </a:srgbClr>
            </a:solidFill>
          </p:spPr>
        </p:sp>
      </p:grpSp>
      <p:grpSp>
        <p:nvGrpSpPr>
          <p:cNvPr name="Group 5" id="5"/>
          <p:cNvGrpSpPr/>
          <p:nvPr/>
        </p:nvGrpSpPr>
        <p:grpSpPr>
          <a:xfrm rot="0">
            <a:off x="5035184" y="1039200"/>
            <a:ext cx="12523200" cy="9248400"/>
            <a:chOff x="0" y="0"/>
            <a:chExt cx="16697600" cy="12331200"/>
          </a:xfrm>
        </p:grpSpPr>
        <p:sp>
          <p:nvSpPr>
            <p:cNvPr name="Freeform 6" id="6"/>
            <p:cNvSpPr/>
            <p:nvPr/>
          </p:nvSpPr>
          <p:spPr>
            <a:xfrm flipH="false" flipV="false" rot="0">
              <a:off x="0" y="0"/>
              <a:ext cx="16697579" cy="12331192"/>
            </a:xfrm>
            <a:custGeom>
              <a:avLst/>
              <a:gdLst/>
              <a:ahLst/>
              <a:cxnLst/>
              <a:rect r="r" b="b" t="t" l="l"/>
              <a:pathLst>
                <a:path h="12331192" w="16697579">
                  <a:moveTo>
                    <a:pt x="0" y="0"/>
                  </a:moveTo>
                  <a:lnTo>
                    <a:pt x="16697579" y="0"/>
                  </a:lnTo>
                  <a:lnTo>
                    <a:pt x="16697579" y="12331192"/>
                  </a:lnTo>
                  <a:lnTo>
                    <a:pt x="0" y="12331192"/>
                  </a:lnTo>
                  <a:close/>
                </a:path>
              </a:pathLst>
            </a:custGeom>
            <a:solidFill>
              <a:srgbClr val="191919"/>
            </a:solidFill>
          </p:spPr>
        </p:sp>
      </p:grpSp>
      <p:grpSp>
        <p:nvGrpSpPr>
          <p:cNvPr name="Group 7" id="7"/>
          <p:cNvGrpSpPr/>
          <p:nvPr/>
        </p:nvGrpSpPr>
        <p:grpSpPr>
          <a:xfrm rot="0">
            <a:off x="5703784" y="1664096"/>
            <a:ext cx="11160000" cy="8623200"/>
            <a:chOff x="0" y="0"/>
            <a:chExt cx="14880000" cy="11497600"/>
          </a:xfrm>
        </p:grpSpPr>
        <p:sp>
          <p:nvSpPr>
            <p:cNvPr name="Freeform 8" id="8"/>
            <p:cNvSpPr/>
            <p:nvPr/>
          </p:nvSpPr>
          <p:spPr>
            <a:xfrm flipH="false" flipV="false" rot="0">
              <a:off x="0" y="0"/>
              <a:ext cx="14879955" cy="11497564"/>
            </a:xfrm>
            <a:custGeom>
              <a:avLst/>
              <a:gdLst/>
              <a:ahLst/>
              <a:cxnLst/>
              <a:rect r="r" b="b" t="t" l="l"/>
              <a:pathLst>
                <a:path h="11497564" w="14879955">
                  <a:moveTo>
                    <a:pt x="0" y="0"/>
                  </a:moveTo>
                  <a:lnTo>
                    <a:pt x="14879955" y="0"/>
                  </a:lnTo>
                  <a:lnTo>
                    <a:pt x="14879955" y="11497564"/>
                  </a:lnTo>
                  <a:lnTo>
                    <a:pt x="0" y="11497564"/>
                  </a:lnTo>
                  <a:close/>
                </a:path>
              </a:pathLst>
            </a:custGeom>
            <a:solidFill>
              <a:srgbClr val="E7E7E7"/>
            </a:solidFill>
          </p:spPr>
        </p:sp>
      </p:grpSp>
      <p:sp>
        <p:nvSpPr>
          <p:cNvPr name="TextBox 9" id="9"/>
          <p:cNvSpPr txBox="true"/>
          <p:nvPr/>
        </p:nvSpPr>
        <p:spPr>
          <a:xfrm rot="0">
            <a:off x="6437125" y="4290284"/>
            <a:ext cx="9706950" cy="1847850"/>
          </a:xfrm>
          <a:prstGeom prst="rect">
            <a:avLst/>
          </a:prstGeom>
        </p:spPr>
        <p:txBody>
          <a:bodyPr anchor="t" rtlCol="false" tIns="0" lIns="0" bIns="0" rIns="0">
            <a:spAutoFit/>
          </a:bodyPr>
          <a:lstStyle/>
          <a:p>
            <a:pPr algn="ctr">
              <a:lnSpc>
                <a:spcPts val="14400"/>
              </a:lnSpc>
            </a:pPr>
            <a:r>
              <a:rPr lang="en-US" sz="12000">
                <a:solidFill>
                  <a:srgbClr val="191919"/>
                </a:solidFill>
                <a:latin typeface="Bebas Neue"/>
                <a:ea typeface="Bebas Neue"/>
                <a:cs typeface="Bebas Neue"/>
                <a:sym typeface="Bebas Neue"/>
              </a:rPr>
              <a:t>CONCLUSION</a:t>
            </a:r>
          </a:p>
        </p:txBody>
      </p:sp>
      <p:sp>
        <p:nvSpPr>
          <p:cNvPr name="TextBox 10" id="10"/>
          <p:cNvSpPr txBox="true"/>
          <p:nvPr/>
        </p:nvSpPr>
        <p:spPr>
          <a:xfrm rot="0">
            <a:off x="9502909" y="2606684"/>
            <a:ext cx="3582750" cy="1847850"/>
          </a:xfrm>
          <a:prstGeom prst="rect">
            <a:avLst/>
          </a:prstGeom>
        </p:spPr>
        <p:txBody>
          <a:bodyPr anchor="t" rtlCol="false" tIns="0" lIns="0" bIns="0" rIns="0">
            <a:spAutoFit/>
          </a:bodyPr>
          <a:lstStyle/>
          <a:p>
            <a:pPr algn="ctr">
              <a:lnSpc>
                <a:spcPts val="14400"/>
              </a:lnSpc>
            </a:pPr>
            <a:r>
              <a:rPr lang="en-US" sz="12000">
                <a:solidFill>
                  <a:srgbClr val="191919"/>
                </a:solidFill>
                <a:latin typeface="Bebas Neue"/>
                <a:ea typeface="Bebas Neue"/>
                <a:cs typeface="Bebas Neue"/>
                <a:sym typeface="Bebas Neue"/>
              </a:rPr>
              <a:t>05.</a:t>
            </a:r>
          </a:p>
        </p:txBody>
      </p:sp>
      <p:sp>
        <p:nvSpPr>
          <p:cNvPr name="Freeform 11" id="11"/>
          <p:cNvSpPr/>
          <p:nvPr/>
        </p:nvSpPr>
        <p:spPr>
          <a:xfrm flipH="false" flipV="false" rot="0">
            <a:off x="15871456" y="3002594"/>
            <a:ext cx="273152" cy="1075112"/>
          </a:xfrm>
          <a:custGeom>
            <a:avLst/>
            <a:gdLst/>
            <a:ahLst/>
            <a:cxnLst/>
            <a:rect r="r" b="b" t="t" l="l"/>
            <a:pathLst>
              <a:path h="1075112" w="273152">
                <a:moveTo>
                  <a:pt x="0" y="0"/>
                </a:moveTo>
                <a:lnTo>
                  <a:pt x="273152" y="0"/>
                </a:lnTo>
                <a:lnTo>
                  <a:pt x="273152" y="1075112"/>
                </a:lnTo>
                <a:lnTo>
                  <a:pt x="0" y="10751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304475" y="-484091"/>
            <a:ext cx="374550" cy="6795700"/>
          </a:xfrm>
          <a:custGeom>
            <a:avLst/>
            <a:gdLst/>
            <a:ahLst/>
            <a:cxnLst/>
            <a:rect r="r" b="b" t="t" l="l"/>
            <a:pathLst>
              <a:path h="6795700" w="374550">
                <a:moveTo>
                  <a:pt x="0" y="0"/>
                </a:moveTo>
                <a:lnTo>
                  <a:pt x="374550" y="0"/>
                </a:lnTo>
                <a:lnTo>
                  <a:pt x="374550" y="6795700"/>
                </a:lnTo>
                <a:lnTo>
                  <a:pt x="0" y="67957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3" id="13"/>
          <p:cNvSpPr/>
          <p:nvPr/>
        </p:nvSpPr>
        <p:spPr>
          <a:xfrm rot="10778413">
            <a:off x="5288794" y="7529425"/>
            <a:ext cx="10749512" cy="0"/>
          </a:xfrm>
          <a:prstGeom prst="line">
            <a:avLst/>
          </a:prstGeom>
          <a:ln cap="rnd" w="19050">
            <a:solidFill>
              <a:srgbClr val="191919"/>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0">
            <a:off x="114225" y="5576331"/>
            <a:ext cx="18059550" cy="1914300"/>
          </a:xfrm>
          <a:prstGeom prst="rect">
            <a:avLst/>
          </a:prstGeom>
        </p:spPr>
        <p:txBody>
          <a:bodyPr anchor="t" rtlCol="false" tIns="0" lIns="0" bIns="0" rIns="0">
            <a:spAutoFit/>
          </a:bodyPr>
          <a:lstStyle/>
          <a:p>
            <a:pPr algn="ctr">
              <a:lnSpc>
                <a:spcPts val="17064"/>
              </a:lnSpc>
            </a:pPr>
            <a:r>
              <a:rPr lang="en-US" sz="15800">
                <a:solidFill>
                  <a:srgbClr val="5C64B8"/>
                </a:solidFill>
                <a:latin typeface="Bebas Neue"/>
                <a:ea typeface="Bebas Neue"/>
                <a:cs typeface="Bebas Neue"/>
                <a:sym typeface="Bebas Neue"/>
              </a:rPr>
              <a:t>ARTIFICIAL INTELLIGENCE (AI)</a:t>
            </a:r>
          </a:p>
        </p:txBody>
      </p:sp>
      <p:sp>
        <p:nvSpPr>
          <p:cNvPr name="TextBox 3" id="3"/>
          <p:cNvSpPr txBox="true"/>
          <p:nvPr/>
        </p:nvSpPr>
        <p:spPr>
          <a:xfrm rot="0">
            <a:off x="114225" y="2919603"/>
            <a:ext cx="18059550" cy="1914300"/>
          </a:xfrm>
          <a:prstGeom prst="rect">
            <a:avLst/>
          </a:prstGeom>
        </p:spPr>
        <p:txBody>
          <a:bodyPr anchor="t" rtlCol="false" tIns="0" lIns="0" bIns="0" rIns="0">
            <a:spAutoFit/>
          </a:bodyPr>
          <a:lstStyle/>
          <a:p>
            <a:pPr algn="ctr">
              <a:lnSpc>
                <a:spcPts val="17064"/>
              </a:lnSpc>
            </a:pPr>
            <a:r>
              <a:rPr lang="en-US" sz="15800">
                <a:solidFill>
                  <a:srgbClr val="5C64B8"/>
                </a:solidFill>
                <a:latin typeface="Bebas Neue"/>
                <a:ea typeface="Bebas Neue"/>
                <a:cs typeface="Bebas Neue"/>
                <a:sym typeface="Bebas Neue"/>
              </a:rPr>
              <a:t>ARTIFICIAL INTELLIGENCE (AI)</a:t>
            </a:r>
          </a:p>
        </p:txBody>
      </p:sp>
      <p:grpSp>
        <p:nvGrpSpPr>
          <p:cNvPr name="Group 4" id="4"/>
          <p:cNvGrpSpPr/>
          <p:nvPr/>
        </p:nvGrpSpPr>
        <p:grpSpPr>
          <a:xfrm rot="0">
            <a:off x="264006" y="171178"/>
            <a:ext cx="17732061" cy="9816819"/>
            <a:chOff x="0" y="0"/>
            <a:chExt cx="23642748" cy="13089092"/>
          </a:xfrm>
        </p:grpSpPr>
        <p:sp>
          <p:nvSpPr>
            <p:cNvPr name="Freeform 5" id="5"/>
            <p:cNvSpPr/>
            <p:nvPr/>
          </p:nvSpPr>
          <p:spPr>
            <a:xfrm flipH="false" flipV="false" rot="0">
              <a:off x="0" y="0"/>
              <a:ext cx="23642665" cy="13089054"/>
            </a:xfrm>
            <a:custGeom>
              <a:avLst/>
              <a:gdLst/>
              <a:ahLst/>
              <a:cxnLst/>
              <a:rect r="r" b="b" t="t" l="l"/>
              <a:pathLst>
                <a:path h="13089054" w="23642665">
                  <a:moveTo>
                    <a:pt x="0" y="0"/>
                  </a:moveTo>
                  <a:lnTo>
                    <a:pt x="23642665" y="0"/>
                  </a:lnTo>
                  <a:lnTo>
                    <a:pt x="23642665" y="13089054"/>
                  </a:lnTo>
                  <a:lnTo>
                    <a:pt x="0" y="13089054"/>
                  </a:lnTo>
                  <a:close/>
                </a:path>
              </a:pathLst>
            </a:custGeom>
            <a:solidFill>
              <a:srgbClr val="E7E7E7"/>
            </a:solidFill>
          </p:spPr>
        </p:sp>
      </p:grpSp>
      <p:sp>
        <p:nvSpPr>
          <p:cNvPr name="Freeform 6" id="6"/>
          <p:cNvSpPr/>
          <p:nvPr/>
        </p:nvSpPr>
        <p:spPr>
          <a:xfrm flipH="false" flipV="false" rot="0">
            <a:off x="5757566" y="818284"/>
            <a:ext cx="6795700" cy="374550"/>
          </a:xfrm>
          <a:custGeom>
            <a:avLst/>
            <a:gdLst/>
            <a:ahLst/>
            <a:cxnLst/>
            <a:rect r="r" b="b" t="t" l="l"/>
            <a:pathLst>
              <a:path h="374550" w="6795700">
                <a:moveTo>
                  <a:pt x="0" y="0"/>
                </a:moveTo>
                <a:lnTo>
                  <a:pt x="6795700" y="0"/>
                </a:lnTo>
                <a:lnTo>
                  <a:pt x="6795700" y="374550"/>
                </a:lnTo>
                <a:lnTo>
                  <a:pt x="0" y="3745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0" y="663979"/>
            <a:ext cx="17996067" cy="10010775"/>
          </a:xfrm>
          <a:prstGeom prst="rect">
            <a:avLst/>
          </a:prstGeom>
        </p:spPr>
        <p:txBody>
          <a:bodyPr anchor="t" rtlCol="false" tIns="0" lIns="0" bIns="0" rIns="0">
            <a:spAutoFit/>
          </a:bodyPr>
          <a:lstStyle/>
          <a:p>
            <a:pPr algn="l" marL="784305" indent="-392152" lvl="1">
              <a:lnSpc>
                <a:spcPts val="4359"/>
              </a:lnSpc>
              <a:buFont typeface="Arial"/>
              <a:buChar char="•"/>
            </a:pPr>
            <a:r>
              <a:rPr lang="en-US" b="true" sz="3632">
                <a:solidFill>
                  <a:srgbClr val="6E79E4"/>
                </a:solidFill>
                <a:latin typeface="Raleway Bold"/>
                <a:ea typeface="Raleway Bold"/>
                <a:cs typeface="Raleway Bold"/>
                <a:sym typeface="Raleway Bold"/>
              </a:rPr>
              <a:t>The AI-Based Hand-Gesture Controlled Presentation System is a practical and innovative solution that merges Artificial Intelligence with Computer Vision to deliver a contactless method of presentation control. By detecting and interpreting hand gestures</a:t>
            </a:r>
            <a:r>
              <a:rPr lang="en-US" b="true" sz="3632">
                <a:solidFill>
                  <a:srgbClr val="6E79E4"/>
                </a:solidFill>
                <a:latin typeface="Raleway Bold"/>
                <a:ea typeface="Raleway Bold"/>
                <a:cs typeface="Raleway Bold"/>
                <a:sym typeface="Raleway Bold"/>
              </a:rPr>
              <a:t>, the system eliminates the need for external remotes or physical devices, allowing a smoother and more interactive presentation experience.</a:t>
            </a:r>
          </a:p>
          <a:p>
            <a:pPr algn="l">
              <a:lnSpc>
                <a:spcPts val="4359"/>
              </a:lnSpc>
            </a:pPr>
          </a:p>
          <a:p>
            <a:pPr algn="l" marL="784305" indent="-392152" lvl="1">
              <a:lnSpc>
                <a:spcPts val="4359"/>
              </a:lnSpc>
              <a:buFont typeface="Arial"/>
              <a:buChar char="•"/>
            </a:pPr>
            <a:r>
              <a:rPr lang="en-US" b="true" sz="3632">
                <a:solidFill>
                  <a:srgbClr val="6E79E4"/>
                </a:solidFill>
                <a:latin typeface="Raleway Bold"/>
                <a:ea typeface="Raleway Bold"/>
                <a:cs typeface="Raleway Bold"/>
                <a:sym typeface="Raleway Bold"/>
              </a:rPr>
              <a:t>This project highlights the feasibility of developing intelligent, low-cost interfaces using Python and open-source libraries. In the future, this system can be further expanded with multi-hand recognition, custom gesture training using neural networks, voice-command integration, and gesture-based media or volume control.</a:t>
            </a:r>
          </a:p>
          <a:p>
            <a:pPr algn="l">
              <a:lnSpc>
                <a:spcPts val="4359"/>
              </a:lnSpc>
            </a:pPr>
          </a:p>
          <a:p>
            <a:pPr algn="l" marL="784305" indent="-392152" lvl="1">
              <a:lnSpc>
                <a:spcPts val="4359"/>
              </a:lnSpc>
              <a:buFont typeface="Arial"/>
              <a:buChar char="•"/>
            </a:pPr>
            <a:r>
              <a:rPr lang="en-US" b="true" sz="3632">
                <a:solidFill>
                  <a:srgbClr val="6E79E4"/>
                </a:solidFill>
                <a:latin typeface="Raleway Bold"/>
                <a:ea typeface="Raleway Bold"/>
                <a:cs typeface="Raleway Bold"/>
                <a:sym typeface="Raleway Bold"/>
              </a:rPr>
              <a:t>Through this project, the potential of human–computer interaction has been demonstrated—creating an intelligent system that reacts naturally to the presenter’s movements and redefines the way we deliver digital content.</a:t>
            </a:r>
          </a:p>
          <a:p>
            <a:pPr algn="ctr">
              <a:lnSpc>
                <a:spcPts val="915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TextBox 2" id="2"/>
          <p:cNvSpPr txBox="true"/>
          <p:nvPr/>
        </p:nvSpPr>
        <p:spPr>
          <a:xfrm rot="5400000">
            <a:off x="-3067550" y="5638050"/>
            <a:ext cx="7182150" cy="1932900"/>
          </a:xfrm>
          <a:prstGeom prst="rect">
            <a:avLst/>
          </a:prstGeom>
        </p:spPr>
        <p:txBody>
          <a:bodyPr anchor="t" rtlCol="false" tIns="0" lIns="0" bIns="0" rIns="0">
            <a:spAutoFit/>
          </a:bodyPr>
          <a:lstStyle/>
          <a:p>
            <a:pPr algn="l">
              <a:lnSpc>
                <a:spcPts val="17064"/>
              </a:lnSpc>
            </a:pPr>
            <a:r>
              <a:rPr lang="en-US" sz="15800">
                <a:solidFill>
                  <a:srgbClr val="5C64B8"/>
                </a:solidFill>
                <a:latin typeface="Bebas Neue"/>
                <a:ea typeface="Bebas Neue"/>
                <a:cs typeface="Bebas Neue"/>
                <a:sym typeface="Bebas Neue"/>
              </a:rPr>
              <a:t>/(AI)/(AI)/</a:t>
            </a:r>
          </a:p>
        </p:txBody>
      </p:sp>
      <p:sp>
        <p:nvSpPr>
          <p:cNvPr name="TextBox 3" id="3"/>
          <p:cNvSpPr txBox="true"/>
          <p:nvPr/>
        </p:nvSpPr>
        <p:spPr>
          <a:xfrm rot="0">
            <a:off x="15594907" y="262875"/>
            <a:ext cx="4558350" cy="9932700"/>
          </a:xfrm>
          <a:prstGeom prst="rect">
            <a:avLst/>
          </a:prstGeom>
        </p:spPr>
        <p:txBody>
          <a:bodyPr anchor="t" rtlCol="false" tIns="0" lIns="0" bIns="0" rIns="0">
            <a:spAutoFit/>
          </a:bodyPr>
          <a:lstStyle/>
          <a:p>
            <a:pPr algn="l">
              <a:lnSpc>
                <a:spcPts val="17064"/>
              </a:lnSpc>
            </a:pPr>
            <a:r>
              <a:rPr lang="en-US" sz="15800">
                <a:solidFill>
                  <a:srgbClr val="5C64B8"/>
                </a:solidFill>
                <a:latin typeface="Bebas Neue"/>
                <a:ea typeface="Bebas Neue"/>
                <a:cs typeface="Bebas Neue"/>
                <a:sym typeface="Bebas Neue"/>
              </a:rPr>
              <a:t>ARTIFICIAL INTELLIGENCE (AI)</a:t>
            </a:r>
          </a:p>
        </p:txBody>
      </p:sp>
      <p:grpSp>
        <p:nvGrpSpPr>
          <p:cNvPr name="Group 4" id="4"/>
          <p:cNvGrpSpPr/>
          <p:nvPr/>
        </p:nvGrpSpPr>
        <p:grpSpPr>
          <a:xfrm rot="0">
            <a:off x="3917850" y="1070000"/>
            <a:ext cx="10479600" cy="8147400"/>
            <a:chOff x="0" y="0"/>
            <a:chExt cx="13972800" cy="10863200"/>
          </a:xfrm>
        </p:grpSpPr>
        <p:sp>
          <p:nvSpPr>
            <p:cNvPr name="Freeform 5" id="5"/>
            <p:cNvSpPr/>
            <p:nvPr/>
          </p:nvSpPr>
          <p:spPr>
            <a:xfrm flipH="false" flipV="false" rot="0">
              <a:off x="0" y="0"/>
              <a:ext cx="13972794" cy="10863199"/>
            </a:xfrm>
            <a:custGeom>
              <a:avLst/>
              <a:gdLst/>
              <a:ahLst/>
              <a:cxnLst/>
              <a:rect r="r" b="b" t="t" l="l"/>
              <a:pathLst>
                <a:path h="10863199" w="13972794">
                  <a:moveTo>
                    <a:pt x="0" y="0"/>
                  </a:moveTo>
                  <a:lnTo>
                    <a:pt x="13972794" y="0"/>
                  </a:lnTo>
                  <a:lnTo>
                    <a:pt x="13972794" y="10863199"/>
                  </a:lnTo>
                  <a:lnTo>
                    <a:pt x="0" y="10863199"/>
                  </a:lnTo>
                  <a:close/>
                </a:path>
              </a:pathLst>
            </a:custGeom>
            <a:solidFill>
              <a:srgbClr val="E7E7E7"/>
            </a:solidFill>
          </p:spPr>
        </p:sp>
      </p:grpSp>
      <p:grpSp>
        <p:nvGrpSpPr>
          <p:cNvPr name="Group 6" id="6"/>
          <p:cNvGrpSpPr/>
          <p:nvPr/>
        </p:nvGrpSpPr>
        <p:grpSpPr>
          <a:xfrm rot="0">
            <a:off x="5459400" y="748000"/>
            <a:ext cx="1993200" cy="1993200"/>
            <a:chOff x="0" y="0"/>
            <a:chExt cx="2657600" cy="2657600"/>
          </a:xfrm>
        </p:grpSpPr>
        <p:sp>
          <p:nvSpPr>
            <p:cNvPr name="Freeform 7" id="7"/>
            <p:cNvSpPr/>
            <p:nvPr/>
          </p:nvSpPr>
          <p:spPr>
            <a:xfrm flipH="false" flipV="false" rot="0">
              <a:off x="0" y="0"/>
              <a:ext cx="2657602" cy="2657602"/>
            </a:xfrm>
            <a:custGeom>
              <a:avLst/>
              <a:gdLst/>
              <a:ahLst/>
              <a:cxnLst/>
              <a:rect r="r" b="b" t="t" l="l"/>
              <a:pathLst>
                <a:path h="2657602" w="2657602">
                  <a:moveTo>
                    <a:pt x="0" y="1328801"/>
                  </a:moveTo>
                  <a:cubicBezTo>
                    <a:pt x="0" y="594868"/>
                    <a:pt x="594868" y="0"/>
                    <a:pt x="1328801" y="0"/>
                  </a:cubicBezTo>
                  <a:cubicBezTo>
                    <a:pt x="2062734" y="0"/>
                    <a:pt x="2657602" y="594868"/>
                    <a:pt x="2657602" y="1328801"/>
                  </a:cubicBezTo>
                  <a:cubicBezTo>
                    <a:pt x="2657602" y="2062734"/>
                    <a:pt x="2062734" y="2657602"/>
                    <a:pt x="1328801" y="2657602"/>
                  </a:cubicBezTo>
                  <a:cubicBezTo>
                    <a:pt x="594868" y="2657602"/>
                    <a:pt x="0" y="2062734"/>
                    <a:pt x="0" y="1328801"/>
                  </a:cubicBezTo>
                  <a:close/>
                </a:path>
              </a:pathLst>
            </a:custGeom>
            <a:solidFill>
              <a:srgbClr val="6E79E4">
                <a:alpha val="12549"/>
              </a:srgbClr>
            </a:solidFill>
          </p:spPr>
        </p:sp>
      </p:grpSp>
      <p:sp>
        <p:nvSpPr>
          <p:cNvPr name="TextBox 8" id="8"/>
          <p:cNvSpPr txBox="true"/>
          <p:nvPr/>
        </p:nvSpPr>
        <p:spPr>
          <a:xfrm rot="0">
            <a:off x="4951425" y="2081076"/>
            <a:ext cx="8385150" cy="5553075"/>
          </a:xfrm>
          <a:prstGeom prst="rect">
            <a:avLst/>
          </a:prstGeom>
        </p:spPr>
        <p:txBody>
          <a:bodyPr anchor="t" rtlCol="false" tIns="0" lIns="0" bIns="0" rIns="0">
            <a:spAutoFit/>
          </a:bodyPr>
          <a:lstStyle/>
          <a:p>
            <a:pPr algn="ctr">
              <a:lnSpc>
                <a:spcPts val="21840"/>
              </a:lnSpc>
            </a:pPr>
            <a:r>
              <a:rPr lang="en-US" sz="18200">
                <a:solidFill>
                  <a:srgbClr val="6E79E4"/>
                </a:solidFill>
                <a:latin typeface="Bebas Neue"/>
                <a:ea typeface="Bebas Neue"/>
                <a:cs typeface="Bebas Neue"/>
                <a:sym typeface="Bebas Neue"/>
              </a:rPr>
              <a:t>THANK</a:t>
            </a:r>
          </a:p>
          <a:p>
            <a:pPr algn="ctr">
              <a:lnSpc>
                <a:spcPts val="21840"/>
              </a:lnSpc>
            </a:pPr>
            <a:r>
              <a:rPr lang="en-US" sz="18200">
                <a:solidFill>
                  <a:srgbClr val="6E79E4"/>
                </a:solidFill>
                <a:latin typeface="Bebas Neue"/>
                <a:ea typeface="Bebas Neue"/>
                <a:cs typeface="Bebas Neue"/>
                <a:sym typeface="Bebas Neue"/>
              </a:rPr>
              <a:t>YOU</a:t>
            </a:r>
          </a:p>
        </p:txBody>
      </p:sp>
      <p:sp>
        <p:nvSpPr>
          <p:cNvPr name="Freeform 9" id="9"/>
          <p:cNvSpPr/>
          <p:nvPr/>
        </p:nvSpPr>
        <p:spPr>
          <a:xfrm flipH="false" flipV="false" rot="0">
            <a:off x="-534350" y="2217160"/>
            <a:ext cx="6795700" cy="374550"/>
          </a:xfrm>
          <a:custGeom>
            <a:avLst/>
            <a:gdLst/>
            <a:ahLst/>
            <a:cxnLst/>
            <a:rect r="r" b="b" t="t" l="l"/>
            <a:pathLst>
              <a:path h="374550" w="6795700">
                <a:moveTo>
                  <a:pt x="0" y="0"/>
                </a:moveTo>
                <a:lnTo>
                  <a:pt x="6795700" y="0"/>
                </a:lnTo>
                <a:lnTo>
                  <a:pt x="6795700" y="374550"/>
                </a:lnTo>
                <a:lnTo>
                  <a:pt x="0" y="3745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DAG31kxSRtA</dc:identifier>
  <dcterms:modified xsi:type="dcterms:W3CDTF">2011-08-01T06:04:30Z</dcterms:modified>
  <cp:revision>1</cp:revision>
  <dc:title>Copy of Artificial Intelligence (AI) Startup Business Plan _ by Slidesgo.pptx</dc:title>
</cp:coreProperties>
</file>